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1501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W02-S01. Open with the last class: we asked questions of a table; today Python asks them for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W02-S02. Ask for time estimates. Use the answer to motivate repeatable code, not a Python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W02-S03. Live demo in Colab: type(24), type("24"), 24 + 1, "24" + 1 (error). Read the error message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W02-S04. Ask which container holds a whole CSV (a list of dicts). Keep it light; do not teach every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W02-S05. Students predict the output (2) before running. Then change the threshold and predict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W02-S06. First write it as repeated lines, feel the repetition, then wrap it. Let students find the empty-list crash.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W02-S07. Include rows like "N/A" and an empty string. Ask: should the program stop, skip, or report?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W02-S08. Mention that Pandas replaces much of this next week, but the idea of reading rows as dicts stays.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W02-S09. Pairs: driver and navigator, swap after 7 minutes. Ask for a plain-English plan before any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W02-S10. Use a dataset with at least one column of mixed text and numbers. Ask for the plan in English before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W02-S11. Do it live with one volunteer. Common failure: no GitHub login. Keep a backup path of zipping the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W02-S12. Check each student's repo shows a commit before they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4333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BS DATA SCIENCE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921000"/>
            <a:ext cx="10883392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i="0" dirty="0">
                <a:solidFill>
                  <a:srgbClr val="F7F5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Python for Data Work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12800" y="3870920"/>
            <a:ext cx="10883392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60"/>
              </a:lnSpc>
              <a:buNone/>
            </a:pPr>
            <a:r>
              <a:rPr lang="en-US" sz="2400" dirty="0">
                <a:solidFill>
                  <a:srgbClr val="F7F5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Automating repeatable data reasoning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96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213670"/>
            <a:ext cx="10883392" cy="1087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Your manager sends 40 CSV files and asks: which columns have missing values?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12800" y="352931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long by hand? What if tomorrow it is 400?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413891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Python is for the question you will ask again.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Variables and types are data meaning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01130"/>
          <a:ext cx="10553700" cy="2636046"/>
        </p:xfrm>
        <a:graphic>
          <a:graphicData uri="http://schemas.openxmlformats.org/drawingml/2006/table">
            <a:tbl>
              <a:tblPr/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Type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Example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 a dataset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24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Age, count of purchases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float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32.5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Temperature, price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str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"Karachi"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City, name, review text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bool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True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Is the customer active?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None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None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missing value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4365774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 the string "24" the same as the number 24? What happens when you add them?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W02-S03 · Introduction to Data Science</a:t>
            </a:r>
            <a:endParaRPr 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CE425E-7DDF-9AEE-FD70-376159C4E436}"/>
              </a:ext>
            </a:extLst>
          </p:cNvPr>
          <p:cNvSpPr txBox="1"/>
          <p:nvPr/>
        </p:nvSpPr>
        <p:spPr>
          <a:xfrm>
            <a:off x="812800" y="4701806"/>
            <a:ext cx="6435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ERROR : </a:t>
            </a:r>
            <a:r>
              <a:rPr lang="en-US" dirty="0" err="1">
                <a:solidFill>
                  <a:srgbClr val="FF0000"/>
                </a:solidFill>
              </a:rPr>
              <a:t>TypeError</a:t>
            </a:r>
            <a:r>
              <a:rPr lang="en-US" dirty="0">
                <a:solidFill>
                  <a:srgbClr val="FF0000"/>
                </a:solidFill>
              </a:rPr>
              <a:t>: can only concatenate str (not "int") to str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Four containers, four jobs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491605"/>
            <a:ext cx="5187950" cy="1306761"/>
          </a:xfrm>
          <a:prstGeom prst="roundRect">
            <a:avLst>
              <a:gd name="adj" fmla="val 753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2350" y="1697980"/>
            <a:ext cx="4918456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22350" y="2018010"/>
            <a:ext cx="491845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Ordered, changeable: a column of values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22350" y="2343100"/>
            <a:ext cx="491845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[1200, 450, 3000]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88075" y="1491605"/>
            <a:ext cx="5187950" cy="1306761"/>
          </a:xfrm>
          <a:prstGeom prst="roundRect">
            <a:avLst>
              <a:gd name="adj" fmla="val 753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394450" y="1697980"/>
            <a:ext cx="4918456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tuple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94450" y="2018010"/>
            <a:ext cx="491845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Ordered, fixed: a coordinate pair    (Immutable)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94450" y="2343100"/>
            <a:ext cx="491845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(24.86, 67.01)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5975" y="2982516"/>
            <a:ext cx="5187950" cy="1306761"/>
          </a:xfrm>
          <a:prstGeom prst="roundRect">
            <a:avLst>
              <a:gd name="adj" fmla="val 753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22350" y="3188891"/>
            <a:ext cx="4918456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22350" y="3508921"/>
            <a:ext cx="491845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Unique values only (no duplicate values allowed): distinct cities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2350" y="3834011"/>
            <a:ext cx="491845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{"Karachi", "Lahore"}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88075" y="2982516"/>
            <a:ext cx="5187950" cy="1306761"/>
          </a:xfrm>
          <a:prstGeom prst="roundRect">
            <a:avLst>
              <a:gd name="adj" fmla="val 753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94450" y="3188891"/>
            <a:ext cx="4918456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dict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94450" y="3508921"/>
            <a:ext cx="491845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Named fields: one row of a 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94450" y="3834011"/>
            <a:ext cx="491845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{"name": "Ayesha", "age": 21}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W02-S04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Conditions and loops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88430"/>
            <a:ext cx="10566400" cy="2171700"/>
          </a:xfrm>
          <a:prstGeom prst="roundRect">
            <a:avLst>
              <a:gd name="adj" fmla="val 4678"/>
            </a:avLst>
          </a:prstGeom>
          <a:solidFill>
            <a:srgbClr val="1B2A41"/>
          </a:solidFill>
          <a:ln/>
        </p:spPr>
        <p:txBody>
          <a:bodyPr wrap="square" lIns="198842" tIns="198842" rIns="0" bIns="173442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amounts = [1200, 450, 3000, 80]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count = 0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 a in amounts: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if a &gt; 1000: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count = count + 1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print(count)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800" y="388873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Say it in English first: for each amount, if it is above 1000, add one to the count. What prints?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W02-S05 · Introduction to Data Science</a:t>
            </a:r>
            <a:endParaRPr lang="en-US" sz="12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05EFBB6-241E-A2B9-E237-DCAE98D1C678}"/>
              </a:ext>
            </a:extLst>
          </p:cNvPr>
          <p:cNvSpPr/>
          <p:nvPr/>
        </p:nvSpPr>
        <p:spPr>
          <a:xfrm>
            <a:off x="812800" y="427226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00B050"/>
                </a:solidFill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Why a function?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88430"/>
            <a:ext cx="10566400" cy="2457450"/>
          </a:xfrm>
          <a:prstGeom prst="roundRect">
            <a:avLst>
              <a:gd name="adj" fmla="val 4134"/>
            </a:avLst>
          </a:prstGeom>
          <a:solidFill>
            <a:srgbClr val="1B2A41"/>
          </a:solidFill>
          <a:ln/>
        </p:spPr>
        <p:txBody>
          <a:bodyPr wrap="square" lIns="198842" tIns="198842" rIns="0" bIns="173442" rtlCol="0" anchor="t">
            <a:normAutofit fontScale="92500"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def summarize(amounts, threshold):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return {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"total": sum(amounts),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"average": sum(amounts) / len(amounts),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"max": max(amounts),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"above": len([a for a in amounts if a &gt; threshold]),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}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800" y="417448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idea, named once, reused on all 40 files. What happens if amounts is empty?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W02-S06 · Introduction to Data Science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9CD4ED-2DDA-8C69-8706-A97F56E04921}"/>
              </a:ext>
            </a:extLst>
          </p:cNvPr>
          <p:cNvSpPr txBox="1"/>
          <p:nvPr/>
        </p:nvSpPr>
        <p:spPr>
          <a:xfrm>
            <a:off x="678264" y="4638184"/>
            <a:ext cx="6099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The function will crash and throw a </a:t>
            </a:r>
            <a:r>
              <a:rPr lang="en-US" b="1" u="none" strike="noStrike" dirty="0" err="1">
                <a:solidFill>
                  <a:srgbClr val="C00000"/>
                </a:solidFill>
                <a:effectLst/>
                <a:latin typeface="Courier New" panose="02070309020205020404" pitchFamily="49" charset="0"/>
              </a:rPr>
              <a:t>ZeroDivisionError</a:t>
            </a:r>
            <a:endParaRPr lang="en-US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Real files have bad rows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88430"/>
            <a:ext cx="10566400" cy="2171700"/>
          </a:xfrm>
          <a:prstGeom prst="roundRect">
            <a:avLst>
              <a:gd name="adj" fmla="val 4678"/>
            </a:avLst>
          </a:prstGeom>
          <a:solidFill>
            <a:srgbClr val="1B2A41"/>
          </a:solidFill>
          <a:ln/>
        </p:spPr>
        <p:txBody>
          <a:bodyPr wrap="square" lIns="198842" tIns="198842" rIns="0" bIns="173442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bad_rows = []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 row in rows: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try: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amount = float(row["amount"])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except ValueError: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bad_rows.append(row)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800" y="388873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 not hide the error. Record it. A bad row is evidence about the data.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W02-S07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Reading a file with the csv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88430"/>
            <a:ext cx="10566400" cy="2171700"/>
          </a:xfrm>
          <a:prstGeom prst="roundRect">
            <a:avLst>
              <a:gd name="adj" fmla="val 4678"/>
            </a:avLst>
          </a:prstGeom>
          <a:solidFill>
            <a:srgbClr val="1B2A41"/>
          </a:solidFill>
          <a:ln/>
        </p:spPr>
        <p:txBody>
          <a:bodyPr wrap="square" lIns="198842" tIns="198842" rIns="0" bIns="173442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import csv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with open("orders.csv", newline="") as f: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rows = list(csv.DictReader(f))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print(len(rows), list(rows[0].keys()))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800" y="388873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value arrives as text. Deciding what each column really is becomes our job.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W02-S08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Warm-up: a transaction list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5975" y="1491605"/>
            <a:ext cx="10560050" cy="69721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 wrap="square" lIns="177547" tIns="177547" rIns="0" bIns="152147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amounts = [1200, 450, 3000, 80, 950, 5000]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82396" y="2420590"/>
            <a:ext cx="10806176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4404" indent="-184404" algn="l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Total</a:t>
            </a:r>
            <a:endParaRPr lang="en-US" sz="1700" dirty="0"/>
          </a:p>
          <a:p>
            <a:pPr marL="184404" indent="-184404" algn="l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Average</a:t>
            </a:r>
            <a:endParaRPr lang="en-US" sz="1700" dirty="0"/>
          </a:p>
          <a:p>
            <a:pPr marL="184404" indent="-184404" algn="l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Maximum</a:t>
            </a:r>
            <a:endParaRPr lang="en-US" sz="1700" dirty="0"/>
          </a:p>
          <a:p>
            <a:pPr marL="184404" indent="-184404" algn="l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many are above 1000?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800" y="394459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 use a loop. Core: wrap it in a function. Stretch: handle an empty list. 15 minutes.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W02-S09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Lab: the CSV Data Profiler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491605"/>
            <a:ext cx="5175250" cy="2681585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2350" y="1697980"/>
            <a:ext cx="490537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Report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06170" y="2033240"/>
            <a:ext cx="4813935" cy="1958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Number of rows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Number of columns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Column names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Guessed data types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Missing values per column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Unique values per column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Basic statistics for numbers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00775" y="1491605"/>
            <a:ext cx="5175250" cy="2681585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7150" y="1697980"/>
            <a:ext cx="490537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7150" y="2033240"/>
            <a:ext cx="49053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</a:t>
            </a: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rows, columns, names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7150" y="2376140"/>
            <a:ext cx="49053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Core:</a:t>
            </a: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the full report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7150" y="2719040"/>
            <a:ext cx="49053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Stretch:</a:t>
            </a: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flag constant columns and duplicate columns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W02-S10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Your first commit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88430"/>
            <a:ext cx="10566400" cy="1885950"/>
          </a:xfrm>
          <a:prstGeom prst="roundRect">
            <a:avLst>
              <a:gd name="adj" fmla="val 5387"/>
            </a:avLst>
          </a:prstGeom>
          <a:solidFill>
            <a:srgbClr val="1B2A41"/>
          </a:solidFill>
          <a:ln/>
        </p:spPr>
        <p:txBody>
          <a:bodyPr wrap="square" lIns="198842" tIns="198842" rIns="0" bIns="173442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 init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 add profiler.py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 commit -m "Add CSV profiler"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 remote add origin &lt;your-repo-url&gt;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 push -u origin main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800" y="360298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now on, every lab ends in a commit. Commits are how we prove what we did.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679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Exit ticket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98463" y="1488430"/>
            <a:ext cx="10890109" cy="1111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8337" indent="-268337" algn="l">
              <a:lnSpc>
                <a:spcPts val="2850"/>
              </a:lnSpc>
              <a:buSzPct val="100000"/>
              <a:buFontTx/>
              <a:buAutoNum type="arabicPeriod"/>
            </a:pPr>
            <a:r>
              <a:rPr lang="en-US" sz="19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did we use a function instead of copying the code?</a:t>
            </a:r>
            <a:endParaRPr lang="en-US" sz="1900" dirty="0"/>
          </a:p>
          <a:p>
            <a:pPr marL="268337" indent="-268337" algn="l">
              <a:lnSpc>
                <a:spcPts val="2850"/>
              </a:lnSpc>
              <a:buSzPct val="100000"/>
              <a:buFontTx/>
              <a:buAutoNum type="arabicPeriod"/>
            </a:pPr>
            <a:r>
              <a:rPr lang="en-US" sz="19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should a program do when one row is malformed?</a:t>
            </a:r>
            <a:endParaRPr lang="en-US" sz="1900" dirty="0"/>
          </a:p>
          <a:p>
            <a:pPr marL="268337" indent="-268337" algn="l">
              <a:lnSpc>
                <a:spcPts val="2850"/>
              </a:lnSpc>
              <a:buSzPct val="100000"/>
              <a:buFontTx/>
              <a:buAutoNum type="arabicPeriod"/>
            </a:pPr>
            <a:r>
              <a:rPr lang="en-US" sz="19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did your profiler tell you that you did not already know?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12800" y="280288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Next: NumPy and Pandas. Push your profiler before you leave.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tro to Data Science — Week 2: Python for Data Work">
  <a:themeElements>
    <a:clrScheme name="Intro to Data Science — Week 2: Python for Data Work">
      <a:dk1>
        <a:srgbClr val="1B2A41"/>
      </a:dk1>
      <a:lt1>
        <a:srgbClr val="F7F5EF"/>
      </a:lt1>
      <a:dk2>
        <a:srgbClr val="525D6D"/>
      </a:dk2>
      <a:lt2>
        <a:srgbClr val="E1E1DE"/>
      </a:lt2>
      <a:accent1>
        <a:srgbClr val="2A6F97"/>
      </a:accent1>
      <a:accent2>
        <a:srgbClr val="D9661F"/>
      </a:accent2>
      <a:accent3>
        <a:srgbClr val="9FB3C8"/>
      </a:accent3>
      <a:accent4>
        <a:srgbClr val="5F6B7A"/>
      </a:accent4>
      <a:accent5>
        <a:srgbClr val="9AA0A6"/>
      </a:accent5>
      <a:accent6>
        <a:srgbClr val="737B87"/>
      </a:accent6>
      <a:hlink>
        <a:srgbClr val="0563C1"/>
      </a:hlink>
      <a:folHlink>
        <a:srgbClr val="954F72"/>
      </a:folHlink>
    </a:clrScheme>
    <a:fontScheme name="Intro to Data Science — Week 2: Python for Data Work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1056</Words>
  <Application>Microsoft Macintosh PowerPoint</Application>
  <PresentationFormat>Widescreen</PresentationFormat>
  <Paragraphs>143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Courier New</vt:lpstr>
      <vt:lpstr>Georgia</vt:lpstr>
      <vt:lpstr>Helvetica</vt:lpstr>
      <vt:lpstr>Intro to Data Science — Week 2: Python for Data Work</vt:lpstr>
      <vt:lpstr>Python for Data Work</vt:lpstr>
      <vt:lpstr>Your manager sends 40 CSV files and asks: which columns have missing values?</vt:lpstr>
      <vt:lpstr>Variables and types are data meaning</vt:lpstr>
      <vt:lpstr>Four containers, four jobs</vt:lpstr>
      <vt:lpstr>Conditions and loops</vt:lpstr>
      <vt:lpstr>Why a function?</vt:lpstr>
      <vt:lpstr>Real files have bad rows</vt:lpstr>
      <vt:lpstr>Reading a file with the csv module</vt:lpstr>
      <vt:lpstr>Warm-up: a transaction list</vt:lpstr>
      <vt:lpstr>Lab: the CSV Data Profiler</vt:lpstr>
      <vt:lpstr>Your first commit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Data Science — Week 2: Python for Data Work</dc:title>
  <dc:subject/>
  <dc:creator/>
  <cp:lastModifiedBy>Abdul Rauf</cp:lastModifiedBy>
  <cp:revision>8</cp:revision>
  <dcterms:created xsi:type="dcterms:W3CDTF">2026-10-12T16:46:06Z</dcterms:created>
  <dcterms:modified xsi:type="dcterms:W3CDTF">2026-10-12T18:46:49Z</dcterms:modified>
</cp:coreProperties>
</file>