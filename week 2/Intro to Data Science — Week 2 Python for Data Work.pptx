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8726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W02-S01. Recap last class in one sentence, then tell the Friday story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W02-S02. Tell the full story from the guide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W02-S03. Read the five outcomes; say the profiler is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W02-S04. Ask students to decompose a different task: making chai for 10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W02-S05. Demo the hidden-state bug live: define x, delete the cell, still use 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W02-S06. Predict each output before running. Show type() 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W02-S07. Ask: how many ways could Karachi be written in a real file?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W02-S08. Students predict, then run. Ask what amounts[-2] gives.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W02-S09. Ask: is KHI the same city? Who decides? The data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W02-S10. Predict the output. Move a statement out of the loop and ask what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W02-S11. Write it the repeated way first, feel the pain, then wrap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W02-S12. Break the function on purpose and watch the assert fail. is_missing comes from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W02-S13. Show each error live. Students say the cause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W02-S14. Real error from the lab data. Ask who can find the bad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W02-S15. Open the CSV as plain text first so they see commas and newlines.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W02-S16. Ask: stop, skip silently, or report? The report is the professional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W02-S17. Pairs, 15 minutes. Plain-English plan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W02-S18. Ask who has the authority to decide KHI means Karachi.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W02-S19. Say the plan in English before any code. 35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W02-S20. Students sketch this before opening the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W02-S21. Students compare their file against this, line by line. Line numbers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W02-S22. Remind: use this to check your work, not to copy before you 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W02-S23. Students run it and compare. Differences are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W02-S24. Use as a debugging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W02-S25. One volunteer live. Zip fallback if GitHub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W02-S26. Collect exit tickets. Check every repo has a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382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BS DATA SCIENCE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921000"/>
            <a:ext cx="10883392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F7F5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Python for Data Work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12800" y="392172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60"/>
              </a:lnSpc>
              <a:buNone/>
            </a:pPr>
            <a:r>
              <a:rPr lang="en-US" sz="2400" dirty="0">
                <a:solidFill>
                  <a:srgbClr val="F7F5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Automating repeatable data reasoning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96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241600"/>
            <a:ext cx="1088339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Friday, 6:40 p.m. Hamza has 40 CSV files, a 9 a.m. meeting and one question.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350138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columns have missing values, and where?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411098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By midnight he had an answer. By Monday he had a program. Today we write the program.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Today you will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96950" y="1982440"/>
            <a:ext cx="3143783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Say a problem in plain English before writing any code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69867" y="1982440"/>
            <a:ext cx="3143783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Pick the right container: list, dict, set or Counter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42784" y="1982440"/>
            <a:ext cx="314383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Write functions that you can test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5975" y="2819946"/>
            <a:ext cx="3414167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6950" y="3000921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96950" y="3338711"/>
            <a:ext cx="3230017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Survive bad rows and read files safely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88892" y="2819946"/>
            <a:ext cx="3414167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69867" y="3000921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69867" y="3338711"/>
            <a:ext cx="3143783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 CSV Data Profiler and commit it to Git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W02-S03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Thinking like a programmer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2520950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222377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Decompose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2223770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 the file. List the columns. Count the blanks in each.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95675" y="1463675"/>
            <a:ext cx="2520950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76650" y="1644650"/>
            <a:ext cx="222377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Spot the pattern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76650" y="1951980"/>
            <a:ext cx="222377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same steps apply to every file.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5375" y="1463675"/>
            <a:ext cx="2520950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56350" y="1644650"/>
            <a:ext cx="222377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Abstract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56350" y="1951980"/>
            <a:ext cx="222377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Name the steps once: a function called profile.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55075" y="1463675"/>
            <a:ext cx="2520950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036050" y="1644650"/>
            <a:ext cx="222377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036050" y="1951980"/>
            <a:ext cx="222377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Loop over all forty files with that function.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305812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Computational thinking comes first. Syntax is only how we write the answer down.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W02-S04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Notebooks: a trap and a habit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063750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Idea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Rule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Cells run in the order YOU run them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notebook can look correct and still be broken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Hidden state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variable can exist from a cell you deleted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Habit before you submit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Restart the runtime, then Run all from the top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Markdown cells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Write why, not only what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376555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If it only works after you click cells in a secret order, it does not work.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W02-S05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Values and types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210792"/>
          </a:xfrm>
          <a:prstGeom prst="roundRect">
            <a:avLst>
              <a:gd name="adj" fmla="val 459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age = 24              # int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price = 32.5          # float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city = 'Karachi'      # str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active = True         # bool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missing = None        # no value at all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print(f'{city}: {age} years, price {price:.1f}')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'24' == 24            # False: text is not a number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899892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CSV file hands you everything as text. Deciding what a column really is becomes your job.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W02-S06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Strings are data too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95252"/>
          </a:xfrm>
          <a:prstGeom prst="roundRect">
            <a:avLst>
              <a:gd name="adj" fmla="val 599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raw = '  karachi '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raw.strip().title()                 # 'Karachi'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'Lahore,Punjab'.split(',')          # ['Lahore', 'Punjab']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'2026-05-21'.split('-')             # ['2026', '05', '21']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'N/A'.lower() in {'n/a', '?', ''}   # True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384352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Most cleaning is string work: trim, change case, split, compare. A preview of Week 4.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W02-S07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Lists, slices and comprehensions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49363"/>
          </a:xfrm>
          <a:prstGeom prst="roundRect">
            <a:avLst>
              <a:gd name="adj" fmla="val 6160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amounts = [1200, 450, 3000, 80, 950, 5000]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amounts[0], amounts[-1]              # 1200, 5000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amounts[1:4]                         # [450, 3000, 80]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big = [a for a in amounts if a &gt; 1000]   # [1200, 3000, 5000]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sorted(amounts, reverse=True)[:3]    # [5000, 3000, 1200]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12800" y="3338463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slice end is exclusive. [1:4] stops before index 4. Read a comprehension as: give me a, for each a, if a &gt; 1000.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W02-S08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Dicts, sets and Counter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081957"/>
          </a:xfrm>
          <a:prstGeom prst="roundRect">
            <a:avLst>
              <a:gd name="adj" fmla="val 4880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row = {'order_id': 1001, 'city': 'karachi', 'qty': 2}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row['city'];  row.get('price', 'missing')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cities = ['Karachi', 'karachi', 'KHI', 'Lahore', 'Karachi']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len(set(cities))                          # 4 spellings, 3 cities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from collections import Counter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Counter(c.strip().lower() for c in cities)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 Counter({'karachi': 3, 'khi': 1, 'lahore': 1})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3771057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row is a dict. A set finds distinct values. Counter finds spelling variants in one 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W02-S09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Decisions and loops over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210792"/>
          </a:xfrm>
          <a:prstGeom prst="roundRect">
            <a:avLst>
              <a:gd name="adj" fmla="val 459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 i, a in enumerate(amounts, start=1):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label = 'big' if a &gt; 1000 else 'small'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print(i, a, label)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names, ages = ['Ayesha', 'Bilal'], [21, 24]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 n, a in zip(names, ages):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print(n, a)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899892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enumerate gives a counter. zip walks two lists together. No index arithmetic needed.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W02-S10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Functions, done properly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95252"/>
          </a:xfrm>
          <a:prstGeom prst="roundRect">
            <a:avLst>
              <a:gd name="adj" fmla="val 599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 average(values: list[float]) -&gt; float | None: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"""Mean of values, or None when there are none."""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if not values: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return None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return sum(values) / len(values)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5975" y="3387527"/>
            <a:ext cx="2520950" cy="852091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6950" y="356850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job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96950" y="384532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 one thing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3387527"/>
            <a:ext cx="2520950" cy="852091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76650" y="356850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name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76650" y="384532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Describes the job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5375" y="3387527"/>
            <a:ext cx="2520950" cy="852091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56350" y="356850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docstring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6350" y="384532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sentence of intent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55075" y="3387527"/>
            <a:ext cx="2520950" cy="852091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36050" y="356850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empty case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36050" y="384532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Decide it on purpose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6289080"/>
            <a:ext cx="31987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Tests are safety nets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437481"/>
          </a:xfrm>
          <a:prstGeom prst="roundRect">
            <a:avLst>
              <a:gd name="adj" fmla="val 7068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average([2, 4]) == 3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average([]) is None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is_missing('N/A') and is_missing('')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not is_missing('0')    # zero is a value, not missing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12658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Write the assert first, then the function. An assert is a tiny data test. In Week 4 the same idea checks whole columns.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Bug Museum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608659"/>
        </p:xfrm>
        <a:graphic>
          <a:graphicData uri="http://schemas.openxmlformats.org/drawingml/2006/table">
            <a:tbl>
              <a:tblPr/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Usual cause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First move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NameError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Cell run out of order, or a typo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Restart, Run all, check spelling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IndentationError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Mixed spaces or tabs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Four spaces, always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TypeError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Adding text to a number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Convert with int() or float()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KeyError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Column name typo or stray space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print(list(row))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ValueError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float("N/A")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try/except and record the row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Off by one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Slice end is exclusive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Test a tiny list by hand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W02-S13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Reading a traceback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5975" y="1463675"/>
            <a:ext cx="10560050" cy="1357511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52147" tIns="152147" rIns="0" bIns="126747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Traceback (most recent call last):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File "profiler.py", line 31, in profile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nums = [float(v) for v in present]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ValueError: could not convert string to float: '2o'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5975" y="3056136"/>
            <a:ext cx="3414167" cy="885180"/>
          </a:xfrm>
          <a:prstGeom prst="roundRect">
            <a:avLst>
              <a:gd name="adj" fmla="val 111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6950" y="3237111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What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96950" y="3529211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ValueError: a conversion failed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8892" y="3056136"/>
            <a:ext cx="3414167" cy="885180"/>
          </a:xfrm>
          <a:prstGeom prst="roundRect">
            <a:avLst>
              <a:gd name="adj" fmla="val 111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69867" y="3237111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Where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69867" y="3529211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profile, line 31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61809" y="3056136"/>
            <a:ext cx="3414216" cy="885180"/>
          </a:xfrm>
          <a:prstGeom prst="roundRect">
            <a:avLst>
              <a:gd name="adj" fmla="val 111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142784" y="3237111"/>
            <a:ext cx="31438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Why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42784" y="3529211"/>
            <a:ext cx="314383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value is the text 2o, with a letter 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417309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Read bottom-up. The last line is the diagnosis.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W02-S14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Reading a file with csv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395141"/>
          </a:xfrm>
          <a:prstGeom prst="roundRect">
            <a:avLst>
              <a:gd name="adj" fmla="val 4242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import csv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from pathlib import Path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path = Path('orders.csv')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with path.open(newline='', encoding='utf-8') as f: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rows = list(csv.DictReader(f))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print(len(rows), list(rows[0]))</a:t>
            </a:r>
            <a:endParaRPr lang="en-US" sz="1350" dirty="0"/>
          </a:p>
          <a:p>
            <a:pPr marL="0" indent="0" algn="l">
              <a:lnSpc>
                <a:spcPts val="1958"/>
              </a:lnSpc>
              <a:buNone/>
            </a:pPr>
            <a:r>
              <a:rPr lang="en-US" sz="13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print(repr(rows[0]['unit_price']))   # '3450': text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12800" y="4084241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with closes the file for you. Every value arrives as text. Pathlib builds paths that work on any computer.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W02-S15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Bad rows are evidence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210792"/>
          </a:xfrm>
          <a:prstGeom prst="roundRect">
            <a:avLst>
              <a:gd name="adj" fmla="val 459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good, bad = [], []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 row in rows: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try: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good.append(float(row['unit_price']))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except (ValueError, TypeError):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bad.append(row['order_id'])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print(len(good), 'ok;', len(bad), 'rejected:', bad)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899892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Never write a bare except. Name the errors you expect, and keep a record of every rejected row.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W02-S16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Warm-up: a transaction list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682625"/>
          </a:xfrm>
          <a:prstGeom prst="roundRect">
            <a:avLst>
              <a:gd name="adj" fmla="val 14884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amounts = [1200, 450, 3000, 80, 950, 5000]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83158" y="2371725"/>
            <a:ext cx="10805414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3642" indent="-18364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Total</a:t>
            </a:r>
            <a:endParaRPr lang="en-US" sz="1600" dirty="0"/>
          </a:p>
          <a:p>
            <a:pPr marL="183642" indent="-18364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Average</a:t>
            </a:r>
            <a:endParaRPr lang="en-US" sz="1600" dirty="0"/>
          </a:p>
          <a:p>
            <a:pPr marL="183642" indent="-18364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Maximum</a:t>
            </a:r>
            <a:endParaRPr lang="en-US" sz="1600" dirty="0"/>
          </a:p>
          <a:p>
            <a:pPr marL="183642" indent="-18364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many are above 1000?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3819525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a loop. Core: wrap it in a function. Stretch: handle an empty list.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4297015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 yourself: total 10680, average 1780, maximum 5000, above 1000: 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W02-S17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Mini-lab: the Counter detective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96620" y="1460500"/>
            <a:ext cx="10791952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orders.csv with csv.DictReader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Count the raw spellings in the city column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Count again after strip() and lower()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spellings are really the same city?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283210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 yourself: 5 raw spellings (Karachi 91, Lahore 51, Islamabad 32, KHI 16, karachi 10); after lower(): 4.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330959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Stretch: decide what to do with KHI, and write your reason in a comment.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W02-S18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Lab: the CSV Data Profiler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Report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Rows, columns, names, guessed types, missing, unique, and min, max, mean, median for numbers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Also report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Number of malformed rows, constant columns and duplicate columns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Done means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Runs on orders.csv, prints no traceback, and is committed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305812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rows, columns, names. Core: the full report. Stretch: constant and duplicate columns, then write report.json.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W02-S19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Plan before code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3088084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Function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Its one job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read_rows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Open the CSV, return header and rows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is_missing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True for blank, N/A, ?, null and similar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infer_kind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Decide int, float, str or empty for one column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profile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Turn one column into a summary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find_duplicates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List columns that hold identical values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report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Print everything for one file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main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Handle arguments and errors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789884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If you can name the functions, you have already designed the program.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W02-S20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Full code, part 1 of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064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__future__ import annotations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import csv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import statistics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import sys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dataclasses import dataclass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pathlib import Path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MISSING = {'', 'na', 'n/a', 'null', 'none', 'nan', '?'}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Row = dict[str, str | None]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Data = dict[str, list[str]]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@dataclass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class Column: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name: str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kind: str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missing: int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unique: int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low: float | None = None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high: float | None = None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mean: float | None = None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median: float | None = None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is_missing(value: str | None) -&gt; bool: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value is None or value.strip().lower() in MISSING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1595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infer_kind(values: list[str]) -&gt; str: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present = [v.strip() for v in values if not is_missing(v)]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if not present: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return 'empty'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for caster, label in ((int, 'int'), (float, 'float')):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try: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for v in present: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caster(v)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return label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except ValueError: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continue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'str'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profile(name: str, raw: list[str]) -&gt; Column: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present = [v.strip() for v in raw if not is_missing(v)]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kind = infer_kind(raw)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col = Column(name, kind, len(raw) - len(present),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len(set(present)))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if kind in ('int', 'float'):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nums = [float(v) for v in present]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col.low, col.high = min(nums), max(nums)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col.mean = statistics.fmean(nums)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col.median = statistics.median(nums)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col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Full code, part 2 of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064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read_rows(path: Path) -&gt; tuple[list[str], list[Row]]: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with path.open(newline='', encoding='utf-8') as f: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reader = csv.DictReader(f)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if reader.fieldnames is None: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raise ValueError('no header row')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return list(reader.fieldnames), list(reader)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find_duplicates(data: Data) -&gt; list[tuple[str, str]]: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names = list(data)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[(a, b)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for i, a in enumerate(names)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for b in names[i + 1:]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if data[a] == data[b]]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report(path: Path) -&gt; None: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names, rows = read_rows(path)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bad = sum(1 for r in rows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if None in r or None in r.values())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data = {n: [r.get(n) or '' for r in rows] for n in names}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print(f'File: {path.name}')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print(f'Rows: {len(rows)}  Columns: {len(names)}')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print(f'Malformed rows: {bad}')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for n in names: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c = profile(n, data[n])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line = (f'- {c.name}: {c.kind}, missing={c.missing}, 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f'unique={c.unique}')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1595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if c.mean is not None: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line += (f', min={c.low:g}, max={c.high:g}, 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   f'mean={c.mean:.2f}, median={c.median:g}')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if c.unique &lt;= 1 and c.kind != 'empty':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line += '  [constant]'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print(line)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for a, b in find_duplicates(data):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print(f'Duplicate columns: {a} and {b}')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main(argv: list[str]) -&gt; int: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if len(argv) != 2: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print('Usage: python profiler.py &lt;file.csv&gt;')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return 2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path = Path(argv[1])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try: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report(path)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except (OSError, ValueError) as error: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print(f'Could not profile {path}: {error}')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return 1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0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if __name__ == '__main__':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sys.exit(main(sys.argv))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32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Expected output on orders.csv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09575" y="894705"/>
            <a:ext cx="11372850" cy="2477492"/>
          </a:xfrm>
          <a:prstGeom prst="roundRect">
            <a:avLst>
              <a:gd name="adj" fmla="val 397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52147" tIns="152147" rIns="0" bIns="126747" rtlCol="0" anchor="t">
            <a:normAutofit/>
          </a:bodyPr>
          <a:lstStyle/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File: orders.csv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Rows: 200  Columns: 10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Malformed rows: 2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order_id: int, missing=0, unique=200, min=1001, max=1200, mean=1100.50, median=1100.5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customer_id: str, missing=0, unique=59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customer_ref: str, missing=0, unique=59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city: str, missing=0, unique=5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category: str, missing=0, unique=4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quantity: str, missing=2, unique=5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unit_price: int, missing=3, unique=100, min=100, max=8850, mean=2680.71, median=2100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order_date: str, missing=5, unique=101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status: str, missing=1, unique=1  [constant]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- notes: str, missing=156, unique=3</a:t>
            </a:r>
            <a:endParaRPr lang="en-US" sz="850" dirty="0"/>
          </a:p>
          <a:p>
            <a:pPr marL="0" indent="0" algn="l">
              <a:lnSpc>
                <a:spcPts val="119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Duplicate columns: customer_id and customer_ref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17906" y="3603972"/>
            <a:ext cx="116014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2494" indent="-142494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Malformed rows: 2 (one short row, one with an extra field)</a:t>
            </a:r>
            <a:endParaRPr lang="en-US" sz="1200" dirty="0"/>
          </a:p>
          <a:p>
            <a:pPr marL="142494" indent="-142494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quantity is str because one value is 2o</a:t>
            </a:r>
            <a:endParaRPr lang="en-US" sz="1200" dirty="0"/>
          </a:p>
          <a:p>
            <a:pPr marL="142494" indent="-142494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status is constant; customer_id and customer_ref are duplicates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W02-S23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If your output is different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702074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What you see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Likely cause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Rows is 201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counted the header as a row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quantity shows int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skipped the bad value, or ignored 2o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 is 0 everywhere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only treated empty text as missing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Crash on a short row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used row[col] where row.get(col) is safer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Duplicate columns not found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compared names, not the values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Mean looks strange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missing marker was converted to a number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W02-S24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Your first commit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95252"/>
          </a:xfrm>
          <a:prstGeom prst="roundRect">
            <a:avLst>
              <a:gd name="adj" fmla="val 599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init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add profiler.py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commit -m "Add CSV profiler for orders data"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remote add origin &lt;your-repo-url&gt;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push -u origin main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397052"/>
          <a:ext cx="10553700" cy="1077962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Weak message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Good message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update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Add missing-value and duplicate-column checks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final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Handle short rows without crashing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703614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Add a .gitignore. Never commit private data.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W02-S25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Recap and exit ticket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Keep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Plain English first. Right container. Small tested functions. Record bad rows.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Watch for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Hidden notebook state, text vs number, bare except.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Pandas: the same ideas, with far less code.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03732" y="2826990"/>
            <a:ext cx="1078484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did we write a function instead of copying code?</a:t>
            </a:r>
            <a:endParaRPr lang="en-US" sz="1400" dirty="0"/>
          </a:p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should a program do with a malformed row?</a:t>
            </a:r>
            <a:endParaRPr lang="en-US" sz="1400" dirty="0"/>
          </a:p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did the profiler reveal about orders.csv?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W02-S26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ro to Data Science — Week 2: Python for Data Work">
  <a:themeElements>
    <a:clrScheme name="Intro to Data Science — Week 2: Python for Data Work">
      <a:dk1>
        <a:srgbClr val="1B2A41"/>
      </a:dk1>
      <a:lt1>
        <a:srgbClr val="F7F5EF"/>
      </a:lt1>
      <a:dk2>
        <a:srgbClr val="525D6D"/>
      </a:dk2>
      <a:lt2>
        <a:srgbClr val="E1E1DE"/>
      </a:lt2>
      <a:accent1>
        <a:srgbClr val="D9661F"/>
      </a:accent1>
      <a:accent2>
        <a:srgbClr val="2A6F97"/>
      </a:accent2>
      <a:accent3>
        <a:srgbClr val="9FB3C8"/>
      </a:accent3>
      <a:accent4>
        <a:srgbClr val="5F6B7A"/>
      </a:accent4>
      <a:accent5>
        <a:srgbClr val="9AA0A6"/>
      </a:accent5>
      <a:accent6>
        <a:srgbClr val="737B87"/>
      </a:accent6>
      <a:hlink>
        <a:srgbClr val="0563C1"/>
      </a:hlink>
      <a:folHlink>
        <a:srgbClr val="954F72"/>
      </a:folHlink>
    </a:clrScheme>
    <a:fontScheme name="Intro to Data Science — Week 2: Python for Data Work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3502</Words>
  <Application>Microsoft Macintosh PowerPoint</Application>
  <PresentationFormat>Widescreen</PresentationFormat>
  <Paragraphs>439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Courier New</vt:lpstr>
      <vt:lpstr>Georgia</vt:lpstr>
      <vt:lpstr>Helvetica</vt:lpstr>
      <vt:lpstr>Intro to Data Science — Week 2: Python for Data Work</vt:lpstr>
      <vt:lpstr>Python for Data Work</vt:lpstr>
      <vt:lpstr>Friday, 6:40 p.m. Hamza has 40 CSV files, a 9 a.m. meeting and one question.</vt:lpstr>
      <vt:lpstr>Today you will</vt:lpstr>
      <vt:lpstr>Thinking like a programmer</vt:lpstr>
      <vt:lpstr>Notebooks: a trap and a habit</vt:lpstr>
      <vt:lpstr>Values and types</vt:lpstr>
      <vt:lpstr>Strings are data too</vt:lpstr>
      <vt:lpstr>Lists, slices and comprehensions</vt:lpstr>
      <vt:lpstr>Dicts, sets and Counter</vt:lpstr>
      <vt:lpstr>Decisions and loops over data</vt:lpstr>
      <vt:lpstr>Functions, done properly</vt:lpstr>
      <vt:lpstr>Tests are safety nets</vt:lpstr>
      <vt:lpstr>Bug Museum</vt:lpstr>
      <vt:lpstr>Reading a traceback</vt:lpstr>
      <vt:lpstr>Reading a file with csv</vt:lpstr>
      <vt:lpstr>Bad rows are evidence</vt:lpstr>
      <vt:lpstr>Warm-up: a transaction list</vt:lpstr>
      <vt:lpstr>Mini-lab: the Counter detective</vt:lpstr>
      <vt:lpstr>Lab: the CSV Data Profiler</vt:lpstr>
      <vt:lpstr>Plan before code</vt:lpstr>
      <vt:lpstr>Full code, part 1 of 2</vt:lpstr>
      <vt:lpstr>Full code, part 2 of 2</vt:lpstr>
      <vt:lpstr>Expected output on orders.csv</vt:lpstr>
      <vt:lpstr>If your output is different</vt:lpstr>
      <vt:lpstr>Your first commit</vt:lpstr>
      <vt:lpstr>Recap and 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Data Science — Week 2: Python for Data Work</dc:title>
  <dc:subject/>
  <dc:creator/>
  <cp:lastModifiedBy>Abdul Rauf</cp:lastModifiedBy>
  <cp:revision>2</cp:revision>
  <dcterms:created xsi:type="dcterms:W3CDTF">2026-10-17T15:23:23Z</dcterms:created>
  <dcterms:modified xsi:type="dcterms:W3CDTF">2026-10-19T12:27:46Z</dcterms:modified>
</cp:coreProperties>
</file>