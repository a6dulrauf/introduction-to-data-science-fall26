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W04-S01. Recap Week 3, then tell the 999-year-old customer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W04-S02. Tell the full story from the guide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W04-S03. The decision log is the real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W04-S04. Students match each problem they saw to a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W04-S05. Run live on members.csv; ask what each line reveals.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W04-S06. Ask what happens if someone fixes a typo by hand in the raw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W04-S07. Pairs classify five examples before you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W04-S08. Debate which option fits age, fee and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W04-S09. Ask what the group median does if a city has only blanks.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W04-S10. Ask: could two real people share a name and a phone?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W04-S11. Ask how a 999 gets into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W04-S12. Show Rs 4,500 and 4.5k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W04-S13. Ask who confirms that KHI means Karachi.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W04-S14. Walk the four steps: digits only, 92 prefix, leading zero,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W04-S15. State and log the day-first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W04-S16. Ask what deleting the premium members would do 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W04-S17. Split the room into two camps and let them argue.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W04-S18. Students write two rows for their own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W04-S19. Break one rule on purpose and watch the test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W04-S20. 12 minutes in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W04-S21. Release the code slides only at the checkpoints in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W04-S22. Students sketch the order on paper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W04-S23. Compare your file with this,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W04-S24. Use this to check your work, not to copy before you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W04-S25. Students run it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W04-S26. Show after students have their own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W04-S27. Collect exit tickets. Announce Assignment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0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0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W04-S1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file-cleaning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2zKn8FHvuY4BDH7DJdwmsV#file-cleaning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91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 DATA SCIENCE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764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7F5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Cleaning and Data Quality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295080"/>
            <a:ext cx="10883392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the data fights back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930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customer who was 999 years old.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24991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loyalty report said the average customer was 54. The real average was 37.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8595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 two customers in every hundred had the placeholder 999 as their 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Today you will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6950" y="198244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 quality before you touch anything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Diagnose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9867" y="198244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each problem and its evidence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42784" y="198244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Delete, fix, fill or flag, and say why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784425"/>
            <a:ext cx="3414167" cy="930870"/>
          </a:xfrm>
          <a:prstGeom prst="roundRect">
            <a:avLst>
              <a:gd name="adj" fmla="val 1057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296540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950" y="3303191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raw data raw; test every result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92" y="2784425"/>
            <a:ext cx="3414167" cy="930870"/>
          </a:xfrm>
          <a:prstGeom prst="roundRect">
            <a:avLst>
              <a:gd name="adj" fmla="val 1057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867" y="296540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9867" y="3303191"/>
            <a:ext cx="32300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a decision log a stranger can follow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394707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Deliverable: a cleaning script, a decision log and data tests for a deliberately broken file.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Six dimensions of data quality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608659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Dimension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 question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Example in members.csv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Completeness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 anything missing?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Satisfaction is blank in 26 rows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Validity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Are values allowed?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 of -5 or 999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Consistency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Same thing, same form?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Karachi, KHI, Krachi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Uniqueness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 each thing once?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 duplicate rows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Accuracy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 it true in the world?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fee of 450000 for a gym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Timeliness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 it current enough?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join date in 2027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Profile before you clean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842591"/>
          </a:xfrm>
          <a:prstGeom prst="roundRect">
            <a:avLst>
              <a:gd name="adj" fmla="val 5514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 = pd.read_csv('members.csv', dtype=str)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df.shape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df.isna().sum()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df.nunique()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df['city'].value_counts(dropna=False)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df['age'].str.fullmatch(r'\d+').value_counts(dropna=False)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353169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everything as text first. If pandas guesses the types for you, it hides the problems you came to find.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W04-S05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Raw data stays raw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463675"/>
            <a:ext cx="10560050" cy="15176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project/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data/raw/members.csv          never edited, never overwritten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data/processed/members_clean.csv   created by the script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cleaning.py                   the only way raw becomes processed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decision_log.md               why every change was made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3216225"/>
            <a:ext cx="3414167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339720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368930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 edit the raw file, even to fix one typo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2" y="3216225"/>
            <a:ext cx="3414167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867" y="339720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69867" y="36893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change is code, not a click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09" y="3216225"/>
            <a:ext cx="3414216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2784" y="3397200"/>
            <a:ext cx="3143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42784" y="368930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the script twice: same 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is it missing?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5200650" cy="900410"/>
          </a:xfrm>
          <a:prstGeom prst="roundRect">
            <a:avLst>
              <a:gd name="adj" fmla="val 1093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49838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Completely random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form field skipped by accident. Least harmful.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5375" y="1463675"/>
            <a:ext cx="5200650" cy="900410"/>
          </a:xfrm>
          <a:prstGeom prst="roundRect">
            <a:avLst>
              <a:gd name="adj" fmla="val 1093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6350" y="1644650"/>
            <a:ext cx="49838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Depends on another column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6350" y="1951980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Younger members skip the phone field.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522835"/>
            <a:ext cx="5200650" cy="900410"/>
          </a:xfrm>
          <a:prstGeom prst="roundRect">
            <a:avLst>
              <a:gd name="adj" fmla="val 1093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950" y="2703810"/>
            <a:ext cx="49838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Depends on the value itself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6950" y="3011140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Unhappy members skip the satisfaction question.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2522835"/>
            <a:ext cx="5200650" cy="900410"/>
          </a:xfrm>
          <a:prstGeom prst="roundRect">
            <a:avLst>
              <a:gd name="adj" fmla="val 1093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350" y="2703810"/>
            <a:ext cx="49838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applicable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6350" y="3011140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member who never visited has no last visit.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655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reason decides the fix. Ask why before you ask how.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Options for missing values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235994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Option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Use when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Risk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Delete the rows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Few rows, missing at random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Lose data; bias if not random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Fill with a constant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label like Unknown is honest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Looks like a real value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Fill with the median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number, mildly skewed, small gap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Shrinks the spread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Fill by group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Groups clearly differ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Wrong if the group is wrong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Leave it and flag it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do not know the reason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Models may not accept NaN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3779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Whatever you choose, record it in the decision log.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Missing values in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732161"/>
          </a:xfrm>
          <a:prstGeom prst="roundRect">
            <a:avLst>
              <a:gd name="adj" fmla="val 586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df['age_missing'] = df['age'].isna()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df['age'].isna().mean()                      # share missing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df.groupby('city')['age'].apply(lambda s: s.isna().mean())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df['age_filled'] = df['age'].fillna(df['age'].median())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df['fee_filled'] = df.groupby('city')['monthly_fee'].transform(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lambda s: s.fillna(s.median()))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342126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flag column keeps the fact that a value was missing, even after you fill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W04-S09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Duplicates: exact and near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column identical. Usually safe to drop.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row with a trailing space or different case. Clean first, then drop.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person, different ID. Flag it, ask a human.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826990"/>
            <a:ext cx="10566400" cy="1327150"/>
          </a:xfrm>
          <a:prstGeom prst="roundRect">
            <a:avLst>
              <a:gd name="adj" fmla="val 765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df.duplicated().sum()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 = df.drop_duplicates()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key = df['full_name'].str.lower() + df['phone'].fillna('?')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df[key.duplicated(keep=False)]       # look before you delete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W04-S10 · Introduction to Data Science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Invalid values: check against a rule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235994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Rule type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Example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Range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 between 14 and 90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Format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Phone matches 03 plus nine digits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Allowed list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City is one of a known set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Cross-field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Last visit is not before the join date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Placeholder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999, -1, 0 or N/A standing for unknown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37794"/>
            <a:ext cx="10566400" cy="1096963"/>
          </a:xfrm>
          <a:prstGeom prst="roundRect">
            <a:avLst>
              <a:gd name="adj" fmla="val 9262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bad = df['age'].notna() &amp; ~df['age'].between(14, 90)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df.loc[bad, 'age'].value_counts()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df['age'] = df['age'].where(~bad)       # set to missing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1987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W04-S11 · Introduction to Data Science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Fixing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732161"/>
          </a:xfrm>
          <a:prstGeom prst="roundRect">
            <a:avLst>
              <a:gd name="adj" fmla="val 586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s.str.lower()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t.str.replace(r'yrs|rs|,|\s', '', regex=True)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 = t.str.endswith('k').fillna(False)         # 4.5k means 4500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 = pd.to_numeric(t.str.rstrip('k'), errors='coerce')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 = num.where(~k, num * 1000)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df['gender'] = df['gender'].astype('category')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342126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errors=coerce turns what cannot be read into missing. Count what it coerced.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W04-S12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Inconsistent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787525"/>
          </a:xfrm>
          <a:prstGeom prst="roundRect">
            <a:avLst>
              <a:gd name="adj" fmla="val 5684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CITY = {'karachi': 'Karachi', 'khi': 'Karachi',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'krachi': 'Karachi', 'lahore': 'Lahore'}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city = df['city'].str.strip().str.lower().map(CITY)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unmapped = df['city'].notna() &amp; city.isna()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df.loc[unmapped, 'city'].unique()          # what did we miss?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not unmapped.any()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12800" y="347662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mapping dictionary is a decision written down. The assert makes sure no new spelling slips through.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W04-S13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Local mess: phone numbers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316063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Clean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0300-1234567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+92 300 1234567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300-1234567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0300 123 4567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03001234567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12345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missing: not a valid number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017863"/>
            <a:ext cx="10566400" cy="1327150"/>
          </a:xfrm>
          <a:prstGeom prst="roundRect">
            <a:avLst>
              <a:gd name="adj" fmla="val 765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 = s.str.replace(r'\D', '', regex=True)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p92 = d.str.startswith('92', na=False)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 = d.where(~p92, '0' + d.str[2:])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d.where(d.str.fullmatch(r'03\d{9}').fillna(False))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W04-S14 · Introduction to Data Science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Dates: the quiet trap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235994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Raw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Format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Result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2025-03-14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Year-month-day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 March 2025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14/03/2025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Day/month/year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 March 2025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 14, 2025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Month name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 March 2025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03/04/2026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Ambiguous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 April or 4 March?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2025-02-30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Impossible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37794"/>
            <a:ext cx="10566400" cy="1290241"/>
          </a:xfrm>
          <a:prstGeom prst="roundRect">
            <a:avLst>
              <a:gd name="adj" fmla="val 7874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iso = pd.to_datetime(s, format='%Y-%m-%d', errors='coerce')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dmy = pd.to_datetime(s, format='%d/%m/%Y', errors='coerce')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 = iso.fillna(dmy)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d.where(d &lt;= EXPORT)                 # a future join date is an error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W04-S15 · Introduction to Data Science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 outlier is not an error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Impossible?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6950" y="193675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 999, fee -4000. An error. Set to missing, log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Possible but extreme?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69867" y="193675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premium fee of 15000. Keep it, flag it, ask the owner.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16310"/>
          </a:xfrm>
          <a:prstGeom prst="roundRect">
            <a:avLst>
              <a:gd name="adj" fmla="val 8817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Looks like a typo?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42784" y="193675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450000 might be 4500. Do not guess. Flag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811760"/>
            <a:ext cx="10566400" cy="1124496"/>
          </a:xfrm>
          <a:prstGeom prst="roundRect">
            <a:avLst>
              <a:gd name="adj" fmla="val 9035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q1, q3 = s.quantile([0.25, 0.75])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gap = 1.5 * (q3 - q1)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 = (s &lt; q1 - gap) | (s &gt; q3 + gap)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164856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IQR rule finds candidates. A human decides.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W04-S16 · Introduction to Data Science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9302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Delete or fill? 15 percent of ages are missing.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24991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one, defend it for two minutes, then hear the other side.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8595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There is no free answer. There is only a written one.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decision log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1384300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Problem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Evidence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Decision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 999 in 3 rows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value_counts shows 999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Set to missing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Impossible; likely a placeholder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Fee 450000 in 1 row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Next largest is 15000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Set to missing, flag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Could be 4500; do not guess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KHI, Krachi in city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Counter of spellings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Map to Karachi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Confirmed with owner on date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0861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 cannot fill the Reason cell, you are not ready to make the change.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tests: assert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732161"/>
          </a:xfrm>
          <a:prstGeom prst="roundRect">
            <a:avLst>
              <a:gd name="adj" fmla="val 586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df['member_id'].is_unique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df['age'].dropna().between(14, 90).all()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df['monthly_fee'].dropna().between(1000, 20000).all()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df['city'].isin(['Karachi', 'Lahore', 'Islamabad',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'Unknown']).all()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df['phone'].dropna().str.fullmatch(r'03\d{9}').all()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342126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the tests every time the cleaning script runs. A failing test is a gift: it finds the problem for you.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W04-S19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W04-S19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Mini-lab: the age detective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6620" y="1460500"/>
            <a:ext cx="1079195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members.csv as text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 every age value that is not a plain number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 the impossible ages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Decide what to do with each kind, and write two rows of a decision log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83210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yourself: 999 appears 3 times, -5 twice, 0 once, twenty-five twice, 43 yrs and 36 yrs once each, and 11 ages are blank (305 unique rows).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2800" y="35407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Stretch: which is more worrying, 999 or 0? Defend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W04-S20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Lab: clean members.csv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347440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6950" y="1936750"/>
            <a:ext cx="314378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problem list, cleaning.py, a decision log, data tests, and a before and after summary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347440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69867" y="193675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file untouched. Everything in code. Tests pass.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347440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42784" y="1936750"/>
            <a:ext cx="314383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Foundation: age, city, duplicates. Core: all columns. Stretch: flags and a short report for the owner.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04289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the data in Colab: type %%writefile members.csv in a cell, paste the data under it, run it. 40 minutes.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Plan the pipeline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981325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Step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Its one job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load_raw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Read everything as text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clean text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Trim, case, map categories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drop duplicates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text is clean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fix numbers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Strip symbols, convert, range check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fix dates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Parse formats, reject impossible and future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flag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Outliers, near duplicates, visit before join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test and save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 asserts, then write the processed file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68312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 matters: clean text before looking for duplicates, convert before range-checking.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1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__future__ import annotations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pathlib import Path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numpy as np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pandas as pd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RAW = Path('data/raw/members.csv')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OUT = Path('data/processed/members_clean.csv')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EXPORT = pd.Timestamp('2026-10-01')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CITY = {'karachi': 'Karachi', 'khi': 'Karachi',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'krachi': 'Karachi', 'lahore': 'Lahore',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'lhr': 'Lahore', 'islamabad': 'Islamabad',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'isb': 'Islamabad'}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GENDER = {'m': 'Male', 'male': 'Male', 'f': 'Female',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'female': 'Female', 'other': 'Other'}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LOG: list[tuple[str, str, str]] = []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log(column: str, problem: str, decision: str) -&gt; None: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LOG.append((column, problem, decision))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to_number(s: pd.Series) -&gt; pd.Series: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 = s.str.lower()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 = t.str.replace(r'yrs|rs|,|\s', '', regex=True)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k = t.str.endswith('k').fillna(False)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num = pd.to_numeric(t.str.rstrip('k'), errors='coerce')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595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num.where(~k, num * 1000)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in_range(s: pd.Series, low: float, high: float,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name: str) -&gt; pd.Series: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bad = s.notna() &amp; ~s.between(low, high)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log(name, f'{int(bad.sum())} outside {low:g}-{high:g}',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'set to missing; never guess a value')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s.where(~bad)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clean_phone(s: pd.Series) -&gt; pd.Series: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 = s.str.replace(r'\D', '', regex=True)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p92 = d.str.startswith('92', na=False)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 = d.where(~p92, '0' + d.str[2:])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short = d.str.len().eq(10) &amp; d.str.startswith('3', na=False)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 = d.where(~short, '0' + d)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d.where(d.str.fullmatch(r'03\d{9}').fillna(False))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parse_dates(s: pd.Series) -&gt; pd.Series: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iso = pd.to_datetime(s, format='%Y-%m-%d', errors='coerce')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dmy = pd.to_datetime(s, format='%d/%m/%Y', errors='coerce')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txt = pd.to_datetime(s, format='%b %d, %Y', errors='coerce')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 = iso.fillna(dmy).fillna(txt)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d.where(d &lt;= EXPORT)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W04-S23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file-cleaning.py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2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5626100" cy="5168354"/>
          </a:xfrm>
          <a:prstGeom prst="roundRect">
            <a:avLst>
              <a:gd name="adj" fmla="val 1720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iqr_flag(s: pd.Series) -&gt; pd.Series: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q1, q3 = s.quantile([0.25, 0.75])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gap = 1.5 * (q3 - q1)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(s &lt; q1 - gap) | (s &gt; q3 + gap)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clean(raw: pd.DataFrame) -&gt; pd.DataFrame: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raw.apply(lambda c: c.str.strip())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df.replace({'': np.nan, 'N/A': np.nan, '?': np.nan})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df['full_name'] = df['full_name'].str.title()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df['gender'] = df['gender'].str.lower().map(GENDER)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df['gender'] = df['gender'].fillna('Unknown')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city = df['city'].str.lower().map(CITY)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not (df['city'].notna() &amp; city.isna()).any()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df['city'] = city.fillna('Unknown')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 = len(df)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df.drop_duplicates()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log('rows', f'{n - len(df)} duplicate rows', 'dropped')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df['phone'] = clean_phone(df['phone'])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df['age'] = in_range(to_number(df['age']), 14, 90, 'age')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fee = to_number(df['monthly_fee'])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df['monthly_fee'] = in_range(fee, 1000, 20000, 'fee')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sess = to_number(df['sessions_per_month'])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df['sessions_per_month'] = in_range(sess, 0, 31, 'sessions')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sat = to_number(df['satisfaction'])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df['satisfaction'] = in_range(sat, 1, 5, 'satisfaction')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for col in ('join_date', 'last_visit'):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df[col] = parse_dates(df[col])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key = df['full_name'] + df['phone'].fillna('?')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dup = key.duplicated(keep=False)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df['possible_duplicate'] = dup &amp; df['phone'].notna()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159500" y="863600"/>
            <a:ext cx="5626100" cy="5168354"/>
          </a:xfrm>
          <a:prstGeom prst="roundRect">
            <a:avLst>
              <a:gd name="adj" fmla="val 1720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df['fee_outlier'] = iqr_flag(df['monthly_fee'])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df['visit_before_join'] = df['last_visit'] &lt; df['join_date']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df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run_tests(df: pd.DataFrame) -&gt; None: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df['member_id'].is_unique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df['age'].dropna().between(14, 90).all()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df['monthly_fee'].dropna().between(1000, 20000).all()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df['city'].isin([*CITY.values(), 'Unknown']).all()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df['join_date'].dropna().le(EXPORT).all()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df['phone'].dropna().str.fullmatch(r'03\d{9}').all()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main() -&gt; None: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raw = pd.read_csv(RAW, dtype=str, keep_default_na=False)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clean(raw)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run_tests(df)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OUT.parent.mkdir(parents=True, exist_ok=True)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df.to_csv(OUT, index=False)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print(f'Rows: {len(raw)} -&gt; {len(df)}')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109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print(df.isna().sum()[lambda s: s &gt; 0].to_string())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110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flags = ['possible_duplicate', 'fee_outlier',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111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'visit_before_join']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112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print(df[flags].sum().to_string())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113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for column, problem, decision in LOG: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114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print(f'{column}: {problem} -&gt; {decision}')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115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116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117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 __name__ == '__main__':</a:t>
            </a:r>
            <a:endParaRPr lang="en-US" sz="90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118</a:t>
            </a:r>
            <a:r>
              <a:rPr lang="en-US" sz="9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main()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W04-S24 · Introduction to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5074" y="6289080"/>
            <a:ext cx="583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 this code: Code Pack, file-cleaning.py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Expected output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9575" y="894705"/>
            <a:ext cx="11372850" cy="320675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Rows: 317 -&gt; 305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                   19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phone                 15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join_date              4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monthly_fee           14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sessions_per_month    17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last_visit            21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satisfaction          39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possible_duplicate    10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fee_outlier            3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visit_before_join      4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rows: 12 duplicate rows -&gt; dropped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age: 6 outside 14-90 -&gt; set to missing; never guess a value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fee: 5 outside 1000-20000 -&gt; set to missing; never guess a value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sessions: 3 outside 0-31 -&gt; set to missing; never guess a value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satisfaction: 6 outside 1-5 -&gt; set to missing; never guess a 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7906" y="4333230"/>
            <a:ext cx="116014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317 raw rows become 305: 8 exact copies and 4 spacing or case variants</a:t>
            </a:r>
            <a:endParaRPr lang="en-US" sz="1200" dirty="0"/>
          </a:p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was invented: every bad value became missing and is counted</a:t>
            </a:r>
            <a:endParaRPr lang="en-US" sz="1200" dirty="0"/>
          </a:p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flags mark rows for a human; they did not delete anything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Answer key: what was wrong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9100" y="904230"/>
          <a:ext cx="10553700" cy="3460750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Column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Problem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Count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Decision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blank 11, impossible 6, words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19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Missing; no guessing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phone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blank 12, invalid 3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join_date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impossible 2, future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monthly_fee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blank 9; 0, -4000, 450000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Missing; 15000 kept, flagged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sessions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blank 14; 99 and -3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17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satisfaction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blank 26, N/A 7, 0 or 6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39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rows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duplicate rows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Dropped after text cleanup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possible duplicates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same name and phone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 rows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Flagged, not dropped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visit before join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last visit earlier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Flagged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Recap and 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 first. Raw stays raw. Every change has a reason. Tests after every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Placeholders like 999. Guessing a fix. Deleting because it is easier.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Describing data: mean, median, spread and shape.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3732" y="2826990"/>
            <a:ext cx="107848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did we not delete the premium 15000 fees?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decision in your log are you least sure of?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would you ask the data owner?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85569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 1 starts: clean orders.csv from Week 2 with this toolkit.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W04-S27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 to Data Science — Week 4: Data Cleaning and Data Quality">
  <a:themeElements>
    <a:clrScheme name="Intro to Data Science — Week 4: Data Cleaning and Data Quality">
      <a:dk1>
        <a:srgbClr val="1B2A41"/>
      </a:dk1>
      <a:lt1>
        <a:srgbClr val="F7F5EF"/>
      </a:lt1>
      <a:dk2>
        <a:srgbClr val="525D6D"/>
      </a:dk2>
      <a:lt2>
        <a:srgbClr val="E1E1DE"/>
      </a:lt2>
      <a:accent1>
        <a:srgbClr val="D9661F"/>
      </a:accent1>
      <a:accent2>
        <a:srgbClr val="2A6F97"/>
      </a:accent2>
      <a:accent3>
        <a:srgbClr val="9FB3C8"/>
      </a:accent3>
      <a:accent4>
        <a:srgbClr val="5F6B7A"/>
      </a:accent4>
      <a:accent5>
        <a:srgbClr val="9AA0A6"/>
      </a:accent5>
      <a:accent6>
        <a:srgbClr val="737B87"/>
      </a:accent6>
      <a:hlink>
        <a:srgbClr val="0563C1"/>
      </a:hlink>
      <a:folHlink>
        <a:srgbClr val="954F72"/>
      </a:folHlink>
    </a:clrScheme>
    <a:fontScheme name="Intro to Data Science — Week 4: Data Cleaning and Data Qualit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Data Science — Week 4: Data Cleaning and Data Quality</dc:title>
  <dc:subject/>
  <dc:creator/>
  <cp:lastModifiedBy/>
  <cp:revision>1</cp:revision>
  <dcterms:created xsi:type="dcterms:W3CDTF">2026-10-30T09:28:07Z</dcterms:created>
  <dcterms:modified xsi:type="dcterms:W3CDTF">2026-10-30T09:28:07Z</dcterms:modified>
</cp:coreProperties>
</file>