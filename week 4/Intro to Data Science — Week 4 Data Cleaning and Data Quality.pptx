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68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40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558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W04-S01. Recap Week 3, then tell the 999-year-old customer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W04-S02. Tell the full story from the guide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W04-S03. The decision log is the real objective.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W04-S04. Students match each problem they saw to a dimension.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W04-S05. Run live on members.csv; ask what each line reveals.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W04-S06. Ask what happens if someone fixes a typo by hand in the raw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W04-S07. Pairs classify five examples before you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W04-S08. Debate which option fits age, fee and satisfaction.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W04-S09. Ask what the group median does if a city has only blanks.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W04-S10. Ask: could two real people share a name and a phone?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W04-S11. Ask how a 999 gets into a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W04-S12. Show Rs 4,500 and 4.5k side by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W04-S13. Ask who confirms that KHI means Karachi.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W04-S14. Walk the four steps: digits only, 92 prefix, leading zero, 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W04-S15. State and log the day-first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W04-S16. Ask what deleting the premium members would do to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W04-S17. Split the room into two camps and let them argue.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W04-S18. Students write two rows for their own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W04-S19. Break one rule on purpose and watch the test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W04-S20. 12 minutes in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W04-S21. Release the code slides only at the checkpoints in the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W04-S22. Students sketch the order on paper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W04-S23. Compare your file with this,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W04-S24. Use this to check your work, not to copy before you 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W04-S25. Students run it and compare.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W04-S26. Show after students have their own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Guide W04-S27. Collect exit tickets. Announce Assignment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000" dirty="0">
                <a:solidFill>
                  <a:srgbClr val="1B2A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36700"/>
            <a:ext cx="10566400" cy="450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05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09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0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2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4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5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6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W04-S19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file-cleaning.py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2zKn8FHvuY4BDH7DJdwmsV#file-cleaning.py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918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BS DATA SCIENCE</a:t>
            </a:r>
            <a:endParaRPr lang="en-US" sz="16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547640"/>
            <a:ext cx="10883392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i="0" dirty="0">
                <a:solidFill>
                  <a:srgbClr val="F7F5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Data Cleaning and Data Quality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12800" y="4295080"/>
            <a:ext cx="10883392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60"/>
              </a:lnSpc>
              <a:buNone/>
            </a:pPr>
            <a:r>
              <a:rPr lang="en-US" sz="2400" dirty="0">
                <a:solidFill>
                  <a:srgbClr val="F7F5E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When the data fights back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3C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4930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customer who was 999 years old.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324991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loyalty report said the average customer was 54. The real average was 37.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385951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About two customers in every hundred had the placeholder 999 as their age.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Today you will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96950" y="198244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Measure quality before you touch anything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69867" y="1982440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Name each problem and its evidence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62000"/>
          </a:xfrm>
          <a:prstGeom prst="roundRect">
            <a:avLst>
              <a:gd name="adj" fmla="val 8470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42784" y="1982440"/>
            <a:ext cx="31438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Delete, fix, fill or flag, and say why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5975" y="2784425"/>
            <a:ext cx="3414167" cy="930870"/>
          </a:xfrm>
          <a:prstGeom prst="roundRect">
            <a:avLst>
              <a:gd name="adj" fmla="val 1057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96950" y="296540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96950" y="3303191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Keep raw data raw; test every result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88892" y="2784425"/>
            <a:ext cx="3414167" cy="930870"/>
          </a:xfrm>
          <a:prstGeom prst="roundRect">
            <a:avLst>
              <a:gd name="adj" fmla="val 10573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69867" y="2965400"/>
            <a:ext cx="3143783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Document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69867" y="3303191"/>
            <a:ext cx="3230017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Write a decision log a stranger can follow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2800" y="3947071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Deliverable: a cleaning script, a decision log and data tests for a deliberately broken file.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W04-S03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Six dimensions of data quality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363783"/>
              </p:ext>
            </p:extLst>
          </p:nvPr>
        </p:nvGraphicFramePr>
        <p:xfrm>
          <a:off x="825500" y="1473200"/>
          <a:ext cx="10553700" cy="2608662"/>
        </p:xfrm>
        <a:graphic>
          <a:graphicData uri="http://schemas.openxmlformats.org/drawingml/2006/table">
            <a:tbl>
              <a:tblPr/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Dimension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The question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Example in members.csv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Completeness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Is anything missing?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Validity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Are values allowed?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Consistency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Same thing, same form?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Uniqueness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Is each thing once?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Accuracy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Is it true in the world?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Timeliness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Is it current enough?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W04-S04 · Introduction to Data Science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02E17-B643-072F-64A5-0CFFE5FAB87B}"/>
              </a:ext>
            </a:extLst>
          </p:cNvPr>
          <p:cNvSpPr txBox="1"/>
          <p:nvPr/>
        </p:nvSpPr>
        <p:spPr>
          <a:xfrm>
            <a:off x="7837715" y="1852788"/>
            <a:ext cx="2550698" cy="322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890"/>
              </a:lnSpc>
            </a:pPr>
            <a:r>
              <a:rPr lang="en-US" sz="13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Satisfaction is blank in 26 rows</a:t>
            </a:r>
            <a:endParaRPr lang="en-US" sz="13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9D4B11-A7FB-61ED-F65F-3A6CE4B39DB7}"/>
              </a:ext>
            </a:extLst>
          </p:cNvPr>
          <p:cNvSpPr txBox="1"/>
          <p:nvPr/>
        </p:nvSpPr>
        <p:spPr>
          <a:xfrm>
            <a:off x="7837715" y="2232376"/>
            <a:ext cx="1425390" cy="322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890"/>
              </a:lnSpc>
            </a:pPr>
            <a:r>
              <a:rPr lang="en-US" sz="13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 of -5 or 999</a:t>
            </a:r>
            <a:endParaRPr lang="en-US" sz="13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BC3C7B-470B-662E-D876-5F9BE7C81DFE}"/>
              </a:ext>
            </a:extLst>
          </p:cNvPr>
          <p:cNvSpPr txBox="1"/>
          <p:nvPr/>
        </p:nvSpPr>
        <p:spPr>
          <a:xfrm>
            <a:off x="7837715" y="2609666"/>
            <a:ext cx="1742785" cy="322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890"/>
              </a:lnSpc>
            </a:pPr>
            <a:r>
              <a:rPr lang="en-US" sz="13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Karachi, KHI, Krachi</a:t>
            </a:r>
            <a:endParaRPr lang="en-US" sz="13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FC65CC-FFD6-99A5-EF75-A365AB2949F7}"/>
              </a:ext>
            </a:extLst>
          </p:cNvPr>
          <p:cNvSpPr txBox="1"/>
          <p:nvPr/>
        </p:nvSpPr>
        <p:spPr>
          <a:xfrm>
            <a:off x="7837714" y="2991166"/>
            <a:ext cx="1531188" cy="322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890"/>
              </a:lnSpc>
            </a:pPr>
            <a:r>
              <a:rPr lang="en-US" sz="13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 duplicate rows</a:t>
            </a:r>
            <a:endParaRPr lang="en-US" sz="13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131C20-D4FB-022B-3E82-85C00FCFB646}"/>
              </a:ext>
            </a:extLst>
          </p:cNvPr>
          <p:cNvSpPr txBox="1"/>
          <p:nvPr/>
        </p:nvSpPr>
        <p:spPr>
          <a:xfrm>
            <a:off x="7837714" y="3364255"/>
            <a:ext cx="2166106" cy="322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890"/>
              </a:lnSpc>
            </a:pPr>
            <a:r>
              <a:rPr lang="en-US" sz="13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fee of 450000 for a gym</a:t>
            </a:r>
            <a:endParaRPr lang="en-US" sz="13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EE99F9-D359-2E68-85D4-4292583BD983}"/>
              </a:ext>
            </a:extLst>
          </p:cNvPr>
          <p:cNvSpPr txBox="1"/>
          <p:nvPr/>
        </p:nvSpPr>
        <p:spPr>
          <a:xfrm>
            <a:off x="7839633" y="3713274"/>
            <a:ext cx="1608261" cy="3227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890"/>
              </a:lnSpc>
            </a:pPr>
            <a:r>
              <a:rPr lang="en-US" sz="13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join date in 2027</a:t>
            </a:r>
            <a:endParaRPr lang="en-US" sz="1350" dirty="0">
              <a:latin typeface="Helvetica" charset="0"/>
              <a:ea typeface="Helvetica" charset="0"/>
              <a:cs typeface="Helvetica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Profile before you clean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842591"/>
          </a:xfrm>
          <a:prstGeom prst="roundRect">
            <a:avLst>
              <a:gd name="adj" fmla="val 5514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 = pd.read_csv('members.csv', dtype=str)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df.shape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df.isna().sum()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df.nunique()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df['city'].value_counts(dropna=False)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df['age'].str.fullmatch(r'\d+').value_counts(dropna=False)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3531691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Read everything as text first. If pandas guesses the types for you, it hides the problems you came to find.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W04-S05 · Introduction to Data Science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Raw data stays raw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5975" y="1463675"/>
            <a:ext cx="10560050" cy="151760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project/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data/raw/members.csv          never edited, never overwritten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data/processed/members_clean.csv   created by the script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cleaning.py                   the only way raw becomes processed</a:t>
            </a:r>
            <a:endParaRPr lang="en-US" sz="1300" dirty="0"/>
          </a:p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decision_log.md               why every change was made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15975" y="3216225"/>
            <a:ext cx="3414167" cy="1116310"/>
          </a:xfrm>
          <a:prstGeom prst="roundRect">
            <a:avLst>
              <a:gd name="adj" fmla="val 8817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6950" y="339720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96950" y="368930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Never edit the raw file, even to fix one typo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8892" y="3216225"/>
            <a:ext cx="3414167" cy="1116310"/>
          </a:xfrm>
          <a:prstGeom prst="roundRect">
            <a:avLst>
              <a:gd name="adj" fmla="val 8817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69867" y="339720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 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69867" y="3689300"/>
            <a:ext cx="3143783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change is code, not a click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61809" y="3216225"/>
            <a:ext cx="3414216" cy="1116310"/>
          </a:xfrm>
          <a:prstGeom prst="roundRect">
            <a:avLst>
              <a:gd name="adj" fmla="val 8817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142784" y="3397200"/>
            <a:ext cx="31438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 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42784" y="3689300"/>
            <a:ext cx="314383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 the script twice: same result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Why is it missing?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5200650" cy="900410"/>
          </a:xfrm>
          <a:prstGeom prst="roundRect">
            <a:avLst>
              <a:gd name="adj" fmla="val 1093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498386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Completely random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498386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form field skipped by accident. Least harmful.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75375" y="1463675"/>
            <a:ext cx="5200650" cy="900410"/>
          </a:xfrm>
          <a:prstGeom prst="roundRect">
            <a:avLst>
              <a:gd name="adj" fmla="val 1093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356350" y="1644650"/>
            <a:ext cx="498386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Depends on another column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56350" y="1951980"/>
            <a:ext cx="498386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Younger members skip the phone field.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5975" y="2522835"/>
            <a:ext cx="5200650" cy="900410"/>
          </a:xfrm>
          <a:prstGeom prst="roundRect">
            <a:avLst>
              <a:gd name="adj" fmla="val 1093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96950" y="2703810"/>
            <a:ext cx="498386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Depends on the value itself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96950" y="3011140"/>
            <a:ext cx="498386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Unhappy members skip the satisfaction question.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5375" y="2522835"/>
            <a:ext cx="5200650" cy="900410"/>
          </a:xfrm>
          <a:prstGeom prst="roundRect">
            <a:avLst>
              <a:gd name="adj" fmla="val 10931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56350" y="2703810"/>
            <a:ext cx="4983861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Not applicable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56350" y="3011140"/>
            <a:ext cx="498386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member who never visited has no last visit.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365502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reason decides the fix. Ask why before you ask how.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Options for missing values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235996"/>
        </p:xfrm>
        <a:graphic>
          <a:graphicData uri="http://schemas.openxmlformats.org/drawingml/2006/table">
            <a:tbl>
              <a:tblPr/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Option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 when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Risk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Delete the rows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Few rows, missing at random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Lose data; bias if not random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Fill with a constant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label like Unknown is honest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Looks like a real value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Fill with the median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 number, mildly skewed, small gap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Shrinks the spread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Fill by group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Groups clearly differ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Wrong if the group is wrong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Leave it and flag it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You do not know the reason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Models may not accept NaN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937794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Whatever you choose, record it in the decision log.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W04-S08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Missing values in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732161"/>
          </a:xfrm>
          <a:prstGeom prst="roundRect">
            <a:avLst>
              <a:gd name="adj" fmla="val 586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df['age_missing'] = df['age'].isna()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df['age'].isna().mean()                      # share missing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df.groupby('city')['age'].apply(lambda s: s.isna().mean())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df['age_filled'] = df['age'].fillna(df['age'].median())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df['fee_filled'] = df.groupby('city')['monthly_fee'].transform(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lambda s: s.fillna(s.median()))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3421261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flag column keeps the fact that a value was missing, even after you fill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W04-S09 · Introduction to Data Science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Duplicates: exact and near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Every column identical. Usually safe to drop.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Variant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Same row with a trailing space or different case. Clean first, then drop.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Near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Same person, different ID. Flag it, ask a human.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2826990"/>
            <a:ext cx="10566400" cy="1327150"/>
          </a:xfrm>
          <a:prstGeom prst="roundRect">
            <a:avLst>
              <a:gd name="adj" fmla="val 765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df.duplicated().sum()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 = df.drop_duplicates()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key = df['full_name'].str.lower() + df['phone'].fillna('?')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df[key.duplicated(keep=False)]       # look before you delete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W04-S10 · Introduction to Data Science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Invalid values: check against a rule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235996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Rule type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Example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Range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Age between 14 and 90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Format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Phone matches 03 plus nine digits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Allowed list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City is one of a known set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Cross-field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Last visit is not before the join date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Placeholder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999, -1, 0 or N/A standing for unknown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937794"/>
            <a:ext cx="10566400" cy="1096963"/>
          </a:xfrm>
          <a:prstGeom prst="roundRect">
            <a:avLst>
              <a:gd name="adj" fmla="val 9262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bad = df['age'].notna() &amp; ~df['age'].between(14, 90)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df.loc[bad, 'age'].value_counts()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df['age'] = df['age'].where(~bad)       # set to missing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19879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W04-S11 · Introduction to Data Science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Fixing types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732161"/>
          </a:xfrm>
          <a:prstGeom prst="roundRect">
            <a:avLst>
              <a:gd name="adj" fmla="val 586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 = s.str.lower()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t = t.str.replace(r'yrs|rs|,|\s', '', regex=True)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k = t.str.endswith('k').fillna(False)         # 4.5k means 4500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num = pd.to_numeric(t.str.rstrip('k'), errors='coerce')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num = num.where(~k, num * 1000)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df['gender'] = df['gender'].astype('category')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3421261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errors=coerce turns what cannot be read into missing. Count what it coerced.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W04-S12 · Introduction to Data Science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Inconsistent categories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787525"/>
          </a:xfrm>
          <a:prstGeom prst="roundRect">
            <a:avLst>
              <a:gd name="adj" fmla="val 5684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CITY = {'karachi': 'Karachi', 'khi': 'Karachi',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'krachi': 'Karachi', 'lahore': 'Lahore'}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city = df['city'].str.strip().str.lower().map(CITY)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unmapped = df['city'].notna() &amp; city.isna()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df.loc[unmapped, 'city'].unique()          # what did we miss?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not unmapped.any()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12800" y="347662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mapping dictionary is a decision written down. The assert makes sure no new spelling slips through.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W04-S13 · Introduction to Data Science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Local mess: phone numbers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316066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Raw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Clean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0300-1234567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03001234567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+92 300 1234567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03001234567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300-1234567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03001234567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0300 123 4567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03001234567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011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12345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missing: not a valid number</a:t>
                      </a:r>
                      <a:endParaRPr lang="en-US" sz="14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017863"/>
            <a:ext cx="10566400" cy="1327150"/>
          </a:xfrm>
          <a:prstGeom prst="roundRect">
            <a:avLst>
              <a:gd name="adj" fmla="val 765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 = s.str.replace(r'\D', '', regex=True)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p92 = d.str.startswith('92', na=False)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 = d.where(~p92, '0' + d.str[2:])</a:t>
            </a:r>
            <a:endParaRPr lang="en-US" sz="1250" dirty="0"/>
          </a:p>
          <a:p>
            <a:pPr marL="0" indent="0" algn="l">
              <a:lnSpc>
                <a:spcPts val="1813"/>
              </a:lnSpc>
              <a:buNone/>
            </a:pPr>
            <a:r>
              <a:rPr lang="en-US" sz="12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d.where(d.str.fullmatch(r'03\d{9}').fillna(False))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W04-S14 · Introduction to Data Science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Dates: the quiet trap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235996"/>
        </p:xfrm>
        <a:graphic>
          <a:graphicData uri="http://schemas.openxmlformats.org/drawingml/2006/table">
            <a:tbl>
              <a:tblPr/>
              <a:tblGrid>
                <a:gridCol w="3517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17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Raw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Format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Result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2025-03-14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Year-month-day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14 March 2025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14/03/2025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Day/month/year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14 March 2025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 14, 2025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Month name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14 March 2025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03/04/2026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Ambiguous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 April or 4 March?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2025-02-30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Impossible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937794"/>
            <a:ext cx="10566400" cy="1290241"/>
          </a:xfrm>
          <a:prstGeom prst="roundRect">
            <a:avLst>
              <a:gd name="adj" fmla="val 7874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iso = pd.to_datetime(s, format='%Y-%m-%d', errors='coerce')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dmy = pd.to_datetime(s, format='%d/%m/%Y', errors='coerce')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 = iso.fillna(dmy)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d.where(d &lt;= EXPORT)                 # a future join date is an error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W04-S15 · Introduction to Data Science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An outlier is not an error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16310"/>
          </a:xfrm>
          <a:prstGeom prst="roundRect">
            <a:avLst>
              <a:gd name="adj" fmla="val 8817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Impossible?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96950" y="193675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 999, fee -4000. An error. Set to missing, log it.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16310"/>
          </a:xfrm>
          <a:prstGeom prst="roundRect">
            <a:avLst>
              <a:gd name="adj" fmla="val 8817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 Possible but extreme?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69867" y="193675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premium fee of 15000. Keep it, flag it, ask the owner.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16310"/>
          </a:xfrm>
          <a:prstGeom prst="roundRect">
            <a:avLst>
              <a:gd name="adj" fmla="val 8817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 Looks like a typo?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42784" y="193675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450000 might be 4500. Do not guess. Flag it.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2811760"/>
            <a:ext cx="10566400" cy="1124496"/>
          </a:xfrm>
          <a:prstGeom prst="roundRect">
            <a:avLst>
              <a:gd name="adj" fmla="val 9035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q1, q3 = s.quantile([0.25, 0.75])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gap = 1.5 * (q3 - q1)</a:t>
            </a:r>
            <a:endParaRPr lang="en-US" sz="1300" dirty="0"/>
          </a:p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flag = (s &lt; q1 - gap) | (s &gt; q3 + gap)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4164856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IQR rule finds candidates. A human decides.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W04-S16 · Introduction to Data Science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96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493020"/>
            <a:ext cx="11379200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Delete or fill? 15 percent of ages are missing.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324991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Pick one, defend it for two minutes, then hear the other side.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3859510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There is no free answer. There is only a written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decision log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495861"/>
              </p:ext>
            </p:extLst>
          </p:nvPr>
        </p:nvGraphicFramePr>
        <p:xfrm>
          <a:off x="825500" y="1473200"/>
          <a:ext cx="10553700" cy="1384300"/>
        </p:xfrm>
        <a:graphic>
          <a:graphicData uri="http://schemas.openxmlformats.org/drawingml/2006/table">
            <a:tbl>
              <a:tblPr/>
              <a:tblGrid>
                <a:gridCol w="2638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8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8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8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Problem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Evidence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Decision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Reason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Age 999 in 3 rows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value_counts shows 999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Fee 450000 in 1 row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Next largest is 15000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KHI, Krachi in city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Counter of spellings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308610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If you cannot fill the Reason cell, you are not ready to make the change.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W04-S18 · Introduction to Data Science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A625A6-80A5-6DA4-72FA-0345776F64B4}"/>
              </a:ext>
            </a:extLst>
          </p:cNvPr>
          <p:cNvSpPr txBox="1"/>
          <p:nvPr/>
        </p:nvSpPr>
        <p:spPr>
          <a:xfrm>
            <a:off x="8735629" y="1837957"/>
            <a:ext cx="2409634" cy="3096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750"/>
              </a:lnSpc>
            </a:pPr>
            <a:r>
              <a:rPr lang="en-US" sz="12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Impossible; likely a placeholder</a:t>
            </a:r>
            <a:endParaRPr lang="en-US" sz="12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D5A717-379A-A5AB-5BC1-B43A9A93373D}"/>
              </a:ext>
            </a:extLst>
          </p:cNvPr>
          <p:cNvSpPr txBox="1"/>
          <p:nvPr/>
        </p:nvSpPr>
        <p:spPr>
          <a:xfrm>
            <a:off x="8735629" y="2172651"/>
            <a:ext cx="2246128" cy="3096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750"/>
              </a:lnSpc>
            </a:pPr>
            <a:r>
              <a:rPr lang="en-US" sz="12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Could be 4500; do not guess</a:t>
            </a:r>
            <a:endParaRPr lang="en-US" sz="12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FA1D76-8C9E-86C4-9F73-C15E033C8CE5}"/>
              </a:ext>
            </a:extLst>
          </p:cNvPr>
          <p:cNvSpPr txBox="1"/>
          <p:nvPr/>
        </p:nvSpPr>
        <p:spPr>
          <a:xfrm>
            <a:off x="8735629" y="2507345"/>
            <a:ext cx="2321469" cy="30963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1750"/>
              </a:lnSpc>
            </a:pPr>
            <a:r>
              <a:rPr lang="en-US" sz="12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Confirmed with owner on date</a:t>
            </a:r>
            <a:endParaRPr lang="en-US" sz="12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FE1FD8-C61D-B379-7CC3-5EDD768AF626}"/>
              </a:ext>
            </a:extLst>
          </p:cNvPr>
          <p:cNvSpPr txBox="1"/>
          <p:nvPr/>
        </p:nvSpPr>
        <p:spPr>
          <a:xfrm>
            <a:off x="6096000" y="1837956"/>
            <a:ext cx="2507942" cy="309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0"/>
              </a:lnSpc>
            </a:pPr>
            <a:r>
              <a:rPr lang="en-US" sz="12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 to missing</a:t>
            </a:r>
            <a:endParaRPr lang="en-US" sz="12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C3F2C7-08BD-92B0-8C2B-1DD38CE66673}"/>
              </a:ext>
            </a:extLst>
          </p:cNvPr>
          <p:cNvSpPr txBox="1"/>
          <p:nvPr/>
        </p:nvSpPr>
        <p:spPr>
          <a:xfrm>
            <a:off x="6102350" y="2172651"/>
            <a:ext cx="2507942" cy="309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0"/>
              </a:lnSpc>
            </a:pPr>
            <a:r>
              <a:rPr lang="en-US" sz="12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 to missing, flag</a:t>
            </a:r>
            <a:endParaRPr lang="en-US" sz="1250" dirty="0"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B2733A-52D9-0530-1755-787FE323DE3C}"/>
              </a:ext>
            </a:extLst>
          </p:cNvPr>
          <p:cNvSpPr txBox="1"/>
          <p:nvPr/>
        </p:nvSpPr>
        <p:spPr>
          <a:xfrm>
            <a:off x="6096000" y="2507344"/>
            <a:ext cx="2507942" cy="309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50"/>
              </a:lnSpc>
            </a:pPr>
            <a:r>
              <a:rPr lang="en-US" sz="125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Map to Karachi</a:t>
            </a:r>
            <a:endParaRPr lang="en-US" sz="1250" dirty="0">
              <a:latin typeface="Helvetica" charset="0"/>
              <a:ea typeface="Helvetica" charset="0"/>
              <a:cs typeface="Helvetica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0" grpId="0"/>
      <p:bldP spid="11" grpId="0"/>
      <p:bldP spid="1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Data tests: assert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12800" y="1460500"/>
            <a:ext cx="10566400" cy="1732161"/>
          </a:xfrm>
          <a:prstGeom prst="roundRect">
            <a:avLst>
              <a:gd name="adj" fmla="val 5866"/>
            </a:avLst>
          </a:prstGeom>
          <a:solidFill>
            <a:srgbClr val="1B2A41"/>
          </a:solidFill>
          <a:ln/>
        </p:spPr>
        <p:txBody>
          <a:bodyPr wrap="square" lIns="173442" tIns="173442" rIns="0" bIns="148042" rtlCol="0" anchor="t">
            <a:normAutofit/>
          </a:bodyPr>
          <a:lstStyle/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df['member_id'].is_unique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df['age'].dropna().between(14, 90).all()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df['monthly_fee'].dropna().between(1000, 20000).all()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df['city'].isin(['Karachi', 'Lahore', 'Islamabad',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         'Unknown']).all()</a:t>
            </a:r>
            <a:endParaRPr lang="en-US" sz="1200" dirty="0"/>
          </a:p>
          <a:p>
            <a:pPr marL="0" indent="0" algn="l">
              <a:lnSpc>
                <a:spcPts val="1740"/>
              </a:lnSpc>
              <a:buNone/>
            </a:pPr>
            <a:r>
              <a:rPr lang="en-US" sz="12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assert df['phone'].dropna().str.fullmatch(r'03\d{9}').all()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3421261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 the tests every time the cleaning script runs. A failing test is a gift: it finds the problem for you.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W04-S19 · Introduction to Data Science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W04-S19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Mini-lab: the age detective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96620" y="1460500"/>
            <a:ext cx="10791952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members.csv as text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 every age value that is not a plain number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Count the impossible ages</a:t>
            </a:r>
            <a:endParaRPr lang="en-US" sz="1500" dirty="0"/>
          </a:p>
          <a:p>
            <a:pPr marL="170180" indent="-170180" algn="l">
              <a:lnSpc>
                <a:spcPts val="2250"/>
              </a:lnSpc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Decide what to do with each kind, and write two rows of a decision log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12800" y="283210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 yourself: 999 appears 3 times, -5 twice, 0 once, twenty-five twice, 43 yrs and 36 yrs once each, and 11 ages are blank (305 unique rows).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354072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Stretch: which is more worrying, 999 or 0? Defend it.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W04-S20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Lab: clean members.csv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347440"/>
          </a:xfrm>
          <a:prstGeom prst="roundRect">
            <a:avLst>
              <a:gd name="adj" fmla="val 7305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Deliver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96950" y="1936750"/>
            <a:ext cx="314378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problem list, cleaning.py, a decision log, data tests, and a before and after summary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347440"/>
          </a:xfrm>
          <a:prstGeom prst="roundRect">
            <a:avLst>
              <a:gd name="adj" fmla="val 7305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69867" y="193675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Raw file untouched. Everything in code. Tests pass.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347440"/>
          </a:xfrm>
          <a:prstGeom prst="roundRect">
            <a:avLst>
              <a:gd name="adj" fmla="val 7305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Lanes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42784" y="1936750"/>
            <a:ext cx="3143834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Foundation: age, city, duplicates. Core: all columns. Stretch: flags and a short report for the owner.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12800" y="3042890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the data in Colab: type %%writefile members.csv in a cell, paste the data under it, run it. 40 minutes.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W04-S21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Plan the pipeline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473200"/>
          <a:ext cx="10553700" cy="2981328"/>
        </p:xfrm>
        <a:graphic>
          <a:graphicData uri="http://schemas.openxmlformats.org/drawingml/2006/table">
            <a:tbl>
              <a:tblPr/>
              <a:tblGrid>
                <a:gridCol w="527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76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Step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Its one job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load_raw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Read everything as text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clean text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Trim, case, map categories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drop duplicates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After text is clean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fix numbers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Strip symbols, convert, range check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fix dates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Parse formats, reject impossible and future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flag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Outliers, near duplicates, visit before join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test and save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Run asserts, then write the processed file</a:t>
                      </a:r>
                      <a:endParaRPr lang="en-US" sz="13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4683125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Order matters: clean text before looking for duplicates, convert before range-checking.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W04-S22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1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__future__ import annotations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from pathlib import Path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numpy as np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import pandas as pd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RAW = Path('data/raw/members.csv')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009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OUT = Path('data/processed/members_clean.csv')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EXPORT = pd.Timestamp('2026-10-01')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CITY = {'karachi': 'Karachi', 'khi': 'Karachi',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'krachi': 'Karachi', 'lahore': 'Lahore',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'lhr': 'Lahore', 'islamabad': 'Islamabad',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'isb': 'Islamabad'}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GENDER = {'m': 'Male', 'male': 'Male', 'f': 'Female',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'female': 'Female', 'other': 'Other'}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LOG: list[tuple[str, str, str]] = []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019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log(column: str, problem: str, decision: str) -&gt; None: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LOG.append((column, problem, decision))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to_number(s: pd.Series)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t = s.str.lower()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t = t.str.replace(r'yrs|rs|,|\s', '', regex=True)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k = t.str.endswith('k').fillna(False)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num = pd.to_numeric(t.str.rstrip('k'), errors='coerce')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159500" y="863600"/>
            <a:ext cx="5626100" cy="4941094"/>
          </a:xfrm>
          <a:prstGeom prst="roundRect">
            <a:avLst>
              <a:gd name="adj" fmla="val 1799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029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num.where(~k, num * 1000)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in_range(s: pd.Series, low: float, high: float,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name: str)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bad = s.notna() &amp; ~s.between(low, high)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log(name, f'{int(bad.sum())} outside {low:g}-{high:g}',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'set to missing; never guess a value')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s.where(~bad)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039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clean_phone(s: pd.Series)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 = s.str.replace(r'\D', '', regex=True)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p92 = d.str.startswith('92', na=False)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 = d.where(~p92, '0' + d.str[2:])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short = d.str.len().eq(10) &amp; d.str.startswith('3', na=False)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 = d.where(~short, '0' + d)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d.where(d.str.fullmatch(r'03\d{9}').fillna(False))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047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048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049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parse_dates(s: pd.Series) -&gt; pd.Series: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050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iso = pd.to_datetime(s, format='%Y-%m-%d', errors='coerce')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051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dmy = pd.to_datetime(s, format='%d/%m/%Y', errors='coerce')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052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txt = pd.to_datetime(s, format='%b %d, %Y', errors='coerce')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053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 = iso.fillna(dmy).fillna(txt)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054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d.where(d &lt;= EXPORT)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055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  <a:p>
            <a:pPr marL="0" indent="0" algn="l">
              <a:lnSpc>
                <a:spcPts val="1311"/>
              </a:lnSpc>
              <a:buNone/>
            </a:pPr>
            <a:r>
              <a:rPr lang="en-US" sz="95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056</a:t>
            </a:r>
            <a:r>
              <a:rPr lang="en-US" sz="95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W04-S23 · Introduction to Data Science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file-cleaning.py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Full code, part 2 of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06400" y="863600"/>
            <a:ext cx="5626100" cy="5168354"/>
          </a:xfrm>
          <a:prstGeom prst="roundRect">
            <a:avLst>
              <a:gd name="adj" fmla="val 1720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057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iqr_flag(s: pd.Series) -&gt; pd.Series: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058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q1, q3 = s.quantile([0.25, 0.75])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059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gap = 1.5 * (q3 - q1)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060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(s &lt; q1 - gap) | (s &gt; q3 + gap)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061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062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063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clean(raw: pd.DataFrame) -&gt; pd.DataFrame: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064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 = raw.apply(lambda c: c.str.strip())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065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 = df.replace({'': np.nan, 'N/A': np.nan, '?': np.nan})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066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df['full_name'] = df['full_name'].str.title()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067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df['gender'] = df['gender'].str.lower().map(GENDER)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068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df['gender'] = df['gender'].fillna('Unknown')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069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city = df['city'].str.lower().map(CITY)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070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not (df['city'].notna() &amp; city.isna()).any()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071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df['city'] = city.fillna('Unknown')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072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n = len(df)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073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 = df.drop_duplicates()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074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log('rows', f'{n - len(df)} duplicate rows', 'dropped')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075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df['phone'] = clean_phone(df['phone'])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076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df['age'] = in_range(to_number(df['age']), 14, 90, 'age')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077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fee = to_number(df['monthly_fee'])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078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df['monthly_fee'] = in_range(fee, 1000, 20000, 'fee')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079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sess = to_number(df['sessions_per_month'])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080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df['sessions_per_month'] = in_range(sess, 0, 31, 'sessions')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081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sat = to_number(df['satisfaction'])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082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df['satisfaction'] = in_range(sat, 1, 5, 'satisfaction')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083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col in ('join_date', 'last_visit'):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084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df[col] = parse_dates(df[col])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085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key = df['full_name'] + df['phone'].fillna('?')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086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dup = key.duplicated(keep=False)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087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df['possible_duplicate'] = dup &amp; df['phone'].notna()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159500" y="863600"/>
            <a:ext cx="5626100" cy="5168354"/>
          </a:xfrm>
          <a:prstGeom prst="roundRect">
            <a:avLst>
              <a:gd name="adj" fmla="val 1720"/>
            </a:avLst>
          </a:prstGeom>
          <a:solidFill>
            <a:srgbClr val="1B2A41"/>
          </a:solidFill>
          <a:ln/>
        </p:spPr>
        <p:txBody>
          <a:bodyPr wrap="square" lIns="113662" tIns="113662" rIns="0" bIns="88262" rtlCol="0" anchor="t">
            <a:normAutofit/>
          </a:bodyPr>
          <a:lstStyle/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088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df['fee_outlier'] = iqr_flag(df['monthly_fee'])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089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df['visit_before_join'] = df['last_visit'] &lt; df['join_date']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090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return df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091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092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093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run_tests(df: pd.DataFrame) -&gt; None: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094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df['member_id'].is_unique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095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df['age'].dropna().between(14, 90).all()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096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df['monthly_fee'].dropna().between(1000, 20000).all()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097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df['city'].isin([*CITY.values(), 'Unknown']).all()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098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df['join_date'].dropna().le(EXPORT).all()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099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assert df['phone'].dropna().str.fullmatch(r'03\d{9}').all()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100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101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102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def main() -&gt; None: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103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raw = pd.read_csv(RAW, dtype=str, keep_default_na=False)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104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 = clean(raw)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105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run_tests(df)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106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OUT.parent.mkdir(parents=True, exist_ok=True)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107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df.to_csv(OUT, index=False)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108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print(f'Rows: {len(raw)} -&gt; {len(df)}')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109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print(df.isna().sum()[lambda s: s &gt; 0].to_string())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110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flags = ['possible_duplicate', 'fee_outlier',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111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     'visit_before_join']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112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print(df[flags].sum().to_string())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113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for column, problem, decision in LOG: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114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    print(f'{column}: {problem} -&gt; {decision}')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115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116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117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if __name__ == '__main__':</a:t>
            </a:r>
            <a:endParaRPr lang="en-US" sz="900" dirty="0"/>
          </a:p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7F93A8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118</a:t>
            </a:r>
            <a:r>
              <a:rPr lang="en-US" sz="900" dirty="0">
                <a:solidFill>
                  <a:srgbClr val="F7F5EF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      main()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W04-S24 · Introduction to Data Science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45074" y="6289080"/>
            <a:ext cx="58341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u="sng" dirty="0">
                <a:solidFill>
                  <a:srgbClr val="D9661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Copy this code: Code Pack, file-cleaning.py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3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Expected output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09575" y="894705"/>
            <a:ext cx="11372850" cy="3206750"/>
          </a:xfrm>
          <a:prstGeom prst="roundRect">
            <a:avLst>
              <a:gd name="adj" fmla="val 3069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 wrap="square" lIns="152147" tIns="152147" rIns="0" bIns="126747" rtlCol="0" anchor="t">
            <a:norm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Rows: 317 -&gt; 305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age                   19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phone                 15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join_date              4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monthly_fee           14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sessions_per_month    17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last_visit            21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satisfaction          39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possible_duplicate    10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fee_outlier            3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visit_before_join      4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rows: 12 duplicate rows -&gt; dropped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age: 6 outside 14-90 -&gt; set to missing; never guess a value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fee: 5 outside 1000-20000 -&gt; set to missing; never guess a value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sessions: 3 outside 0-31 -&gt; set to missing; never guess a value</a:t>
            </a:r>
            <a:endParaRPr lang="en-US" sz="1000" dirty="0"/>
          </a:p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1B2A41"/>
                </a:solidFill>
                <a:latin typeface="Courier New" pitchFamily="49" charset="0"/>
                <a:ea typeface="Courier New" pitchFamily="49" charset="-122"/>
                <a:cs typeface="Courier New" pitchFamily="49" charset="-120"/>
              </a:rPr>
              <a:t>satisfaction: 6 outside 1-5 -&gt; set to missing; never guess a 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17906" y="4333230"/>
            <a:ext cx="1160145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317 raw rows become 305: 8 exact copies and 4 spacing or case variants</a:t>
            </a:r>
            <a:endParaRPr lang="en-US" sz="1200" dirty="0"/>
          </a:p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Nothing was invented: every bad value became missing and is counted</a:t>
            </a:r>
            <a:endParaRPr lang="en-US" sz="1200" dirty="0"/>
          </a:p>
          <a:p>
            <a:pPr marL="142494" indent="-142494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flags mark rows for a human; they did not delete anything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W04-S25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406400" y="355600"/>
            <a:ext cx="11720576" cy="33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20"/>
              </a:lnSpc>
              <a:buNone/>
            </a:pPr>
            <a:r>
              <a:rPr lang="en-US" sz="22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Answer key: what was wrong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9100" y="904230"/>
          <a:ext cx="10553700" cy="3460750"/>
        </p:xfrm>
        <a:graphic>
          <a:graphicData uri="http://schemas.openxmlformats.org/drawingml/2006/table">
            <a:tbl>
              <a:tblPr/>
              <a:tblGrid>
                <a:gridCol w="2638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8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8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8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Column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Problem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Count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b="1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Decision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3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age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blank 11, impossible 6, words 2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19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Missing; no guessing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phone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blank 12, invalid 3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join_date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impossible 2, future 2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monthly_fee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blank 9; 0, -4000, 450000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14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Missing; 15000 kept, flagged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sessions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blank 14; 99 and -3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17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satisfaction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blank 26, N/A 7, 0 or 6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39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Missing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rows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duplicate rows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12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Dropped after text cleanup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possible duplicates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same name and phone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10 rows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Flagged, not dropped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visit before join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last visit earlier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750"/>
                        </a:lnSpc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Flagged</a:t>
                      </a:r>
                      <a:endParaRPr lang="en-US" sz="12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55563" marR="55563" marT="55563" marB="55563">
                    <a:lnL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W04-S26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i="0" dirty="0">
                <a:solidFill>
                  <a:srgbClr val="1B2A41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Recap and exit ticket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5975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96950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Keep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96950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Profile first. Raw stays raw. Every change has a reason. Tests after every run.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8892" y="1463675"/>
            <a:ext cx="3414167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69867" y="1644650"/>
            <a:ext cx="314378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Watch for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69867" y="1951980"/>
            <a:ext cx="3143783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Placeholders like 999. Guessing a fix. Deleting because it is easier.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61809" y="1463675"/>
            <a:ext cx="3414216" cy="1131540"/>
          </a:xfrm>
          <a:prstGeom prst="roundRect">
            <a:avLst>
              <a:gd name="adj" fmla="val 8698"/>
            </a:avLst>
          </a:prstGeom>
          <a:solidFill>
            <a:srgbClr val="FFFFFF"/>
          </a:solidFill>
          <a:ln w="6350">
            <a:solidFill>
              <a:srgbClr val="E0DC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142784" y="1644650"/>
            <a:ext cx="3143834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6F9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Next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42784" y="1951980"/>
            <a:ext cx="314383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Describing data: mean, median, spread and shape.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3732" y="2826990"/>
            <a:ext cx="1078484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did we not delete the premium 15000 fees?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Which decision in your log are you least sure of?</a:t>
            </a:r>
            <a:endParaRPr lang="en-US" sz="1400" dirty="0"/>
          </a:p>
          <a:p>
            <a:pPr marL="163068" indent="-163068" algn="l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would you ask the data owner?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2800" y="6289080"/>
            <a:ext cx="32123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B7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W04-S27 · Introduction to Data Science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tro to Data Science — Week 4: Data Cleaning and Data Quality">
  <a:themeElements>
    <a:clrScheme name="Intro to Data Science — Week 4: Data Cleaning and Data Quality">
      <a:dk1>
        <a:srgbClr val="1B2A41"/>
      </a:dk1>
      <a:lt1>
        <a:srgbClr val="F7F5EF"/>
      </a:lt1>
      <a:dk2>
        <a:srgbClr val="525D6D"/>
      </a:dk2>
      <a:lt2>
        <a:srgbClr val="E1E1DE"/>
      </a:lt2>
      <a:accent1>
        <a:srgbClr val="D9661F"/>
      </a:accent1>
      <a:accent2>
        <a:srgbClr val="2A6F97"/>
      </a:accent2>
      <a:accent3>
        <a:srgbClr val="9FB3C8"/>
      </a:accent3>
      <a:accent4>
        <a:srgbClr val="5F6B7A"/>
      </a:accent4>
      <a:accent5>
        <a:srgbClr val="9AA0A6"/>
      </a:accent5>
      <a:accent6>
        <a:srgbClr val="737B87"/>
      </a:accent6>
      <a:hlink>
        <a:srgbClr val="0563C1"/>
      </a:hlink>
      <a:folHlink>
        <a:srgbClr val="954F72"/>
      </a:folHlink>
    </a:clrScheme>
    <a:fontScheme name="Intro to Data Science — Week 4: Data Cleaning and Data Quality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elvetic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4241</Words>
  <Application>Microsoft Macintosh PowerPoint</Application>
  <PresentationFormat>Widescreen</PresentationFormat>
  <Paragraphs>538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Courier New</vt:lpstr>
      <vt:lpstr>Georgia</vt:lpstr>
      <vt:lpstr>Helvetica</vt:lpstr>
      <vt:lpstr>Intro to Data Science — Week 4: Data Cleaning and Data Quality</vt:lpstr>
      <vt:lpstr>Data Cleaning and Data Quality</vt:lpstr>
      <vt:lpstr>The customer who was 999 years old.</vt:lpstr>
      <vt:lpstr>Today you will</vt:lpstr>
      <vt:lpstr>Six dimensions of data quality</vt:lpstr>
      <vt:lpstr>Profile before you clean</vt:lpstr>
      <vt:lpstr>Raw data stays raw</vt:lpstr>
      <vt:lpstr>Why is it missing?</vt:lpstr>
      <vt:lpstr>Options for missing values</vt:lpstr>
      <vt:lpstr>Missing values in code</vt:lpstr>
      <vt:lpstr>Duplicates: exact and near</vt:lpstr>
      <vt:lpstr>Invalid values: check against a rule</vt:lpstr>
      <vt:lpstr>Fixing types</vt:lpstr>
      <vt:lpstr>Inconsistent categories</vt:lpstr>
      <vt:lpstr>Local mess: phone numbers</vt:lpstr>
      <vt:lpstr>Dates: the quiet trap</vt:lpstr>
      <vt:lpstr>An outlier is not an error</vt:lpstr>
      <vt:lpstr>Delete or fill? 15 percent of ages are missing.</vt:lpstr>
      <vt:lpstr>The decision log</vt:lpstr>
      <vt:lpstr>Data tests: assert it</vt:lpstr>
      <vt:lpstr>Mini-lab: the age detective</vt:lpstr>
      <vt:lpstr>Lab: clean members.csv</vt:lpstr>
      <vt:lpstr>Plan the pipeline</vt:lpstr>
      <vt:lpstr>Full code, part 1 of 2</vt:lpstr>
      <vt:lpstr>Full code, part 2 of 2</vt:lpstr>
      <vt:lpstr>Expected output</vt:lpstr>
      <vt:lpstr>Answer key: what was wrong</vt:lpstr>
      <vt:lpstr>Recap and exit ticket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Data Science — Week 4: Data Cleaning and Data Quality</dc:title>
  <dc:subject/>
  <dc:creator/>
  <cp:lastModifiedBy>Abdul Rauf</cp:lastModifiedBy>
  <cp:revision>12</cp:revision>
  <dcterms:created xsi:type="dcterms:W3CDTF">2026-10-30T09:28:07Z</dcterms:created>
  <dcterms:modified xsi:type="dcterms:W3CDTF">2026-10-30T20:49:29Z</dcterms:modified>
</cp:coreProperties>
</file>