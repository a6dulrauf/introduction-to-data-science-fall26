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8" r:id="rId5"/>
    <p:sldId id="259" r:id="rId6"/>
    <p:sldId id="260" r:id="rId7"/>
    <p:sldId id="269" r:id="rId8"/>
    <p:sldId id="261" r:id="rId9"/>
    <p:sldId id="270" r:id="rId10"/>
    <p:sldId id="262" r:id="rId11"/>
    <p:sldId id="271" r:id="rId12"/>
    <p:sldId id="263" r:id="rId13"/>
    <p:sldId id="272" r:id="rId14"/>
    <p:sldId id="273" r:id="rId15"/>
    <p:sldId id="264" r:id="rId16"/>
    <p:sldId id="265" r:id="rId17"/>
    <p:sldId id="266" r:id="rId18"/>
    <p:sldId id="274" r:id="rId19"/>
    <p:sldId id="275" r:id="rId20"/>
    <p:sldId id="267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9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4779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W01-S01. Arrive early, put this up, and open with the next slide immediately. No definitions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W01-S02. Say the prompt, then stay quiet. Do not correct anyone yet. Watch whether students spot quality issues, jump to averages, or ask where the data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W01-S03. Data is recorded observations: Age = 24, Temperature = 32.5C, City = Karachi, a review, an image. Ask which of the three shapes the messy table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W01-S04. Fields overlap; these labels describe emphasis, not walls.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W01-S05. Read each question aloud and let students name the field before revealing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W01-S06. Draw the lifecycle on the board first, then reveal this slide. Ask where Machine Learning is. At each arrow, collect one thing that could go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W01-S07. Give 2 minutes of think-pair-share. If someone says 10 million, ask: better for what?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W01-S08. Students first write their own questions, then map them to these seven. This poster returns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W01-S09. Walk around asking: why did you call that a problem, what evidence supports it, what does one row represent?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W01-S10. Do not teach joins. Collect guesses about what could go wrong when the grain differs. Joins come in Week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W01-S11. Ask which belief each student held before today. Tally on the board and start Week 2 with the most common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W01-S12. Collect on paper or a form. Strong answers: what problem, where did the data come from, what does one row represent.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717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59410"/>
            <a:ext cx="11379200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Introduction to Data Science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360933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Data Science?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416302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Raw Data → Evidence → Insight →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What do you notice?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530"/>
          <a:ext cx="10553700" cy="2956026"/>
        </p:xfrm>
        <a:graphic>
          <a:graphicData uri="http://schemas.openxmlformats.org/drawingml/2006/table">
            <a:tbl>
              <a:tblPr/>
              <a:tblGrid>
                <a:gridCol w="2110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Customer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Age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City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Purchases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Income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Lahore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95,000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-5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999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?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120,000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736554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definitions. For ten minutes, behave like a Data Scientist.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W01-S02 · Introduction to Data Science</a:t>
            </a:r>
            <a:endParaRPr lang="en-US" sz="1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B6085FC-DF33-257D-ECB9-50FEB0402C5B}"/>
              </a:ext>
            </a:extLst>
          </p:cNvPr>
          <p:cNvSpPr/>
          <p:nvPr/>
        </p:nvSpPr>
        <p:spPr>
          <a:xfrm>
            <a:off x="812800" y="5177557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2240"/>
              </a:lnSpc>
            </a:pPr>
            <a:r>
              <a:rPr lang="en-US" sz="16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 Questions about this dataset? List them.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Data Science turns raw data into decisions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830"/>
            <a:ext cx="10883392" cy="642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reasoning process for getting evidence, insight and decisions out of recorded observations. The data comes in three shapes.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5975" y="2388146"/>
            <a:ext cx="3380284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22350" y="2594521"/>
            <a:ext cx="3056560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Structured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22350" y="2945011"/>
            <a:ext cx="30565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Rows and columns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3287911"/>
            <a:ext cx="30565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 | Age | Salary | City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2388146"/>
            <a:ext cx="3380333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12184" y="2594521"/>
            <a:ext cx="3056611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Semi-structured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12184" y="2945011"/>
            <a:ext cx="30566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Tagged, nested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2184" y="3287911"/>
            <a:ext cx="3056611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JSON: id, name, skills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2388146"/>
            <a:ext cx="3380333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02067" y="2594521"/>
            <a:ext cx="3056611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Unstructured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02067" y="2945011"/>
            <a:ext cx="30566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fixed layout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02067" y="3287911"/>
            <a:ext cx="3056611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Text, images, audio, video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One fact, three shapes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W01-X1 · Introduction to Data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901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0">
                <a:solidFill>
                  <a:srgbClr val="5F6B7A"/>
                </a:solidFill>
                <a:latin typeface="Helvetica"/>
              </a:rPr>
              <a:t>The same customer, stored three 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901" y="1920240"/>
            <a:ext cx="3337560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1501" y="21031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2A6F97"/>
                </a:solidFill>
                <a:latin typeface="Helvetica"/>
              </a:rPr>
              <a:t>Structured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1501" y="269748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1B2A41"/>
                </a:solidFill>
                <a:latin typeface="Courier New"/>
              </a:rPr>
              <a:t>customer_id | name | city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Courier New"/>
              </a:rPr>
              <a:t>C1 | Ayesha | Karachi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Courier New"/>
              </a:rPr>
              <a:t>C2 | Bilal | Lahore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" y="452628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D9661F"/>
                </a:solidFill>
                <a:latin typeface="Helvetica"/>
              </a:rPr>
              <a:t>Easy to count, filter and group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061" y="1920240"/>
            <a:ext cx="3337560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07661" y="21031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2A6F97"/>
                </a:solidFill>
                <a:latin typeface="Helvetica"/>
              </a:rPr>
              <a:t>Semi-structured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7661" y="269748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1B2A41"/>
                </a:solidFill>
                <a:latin typeface="Courier New"/>
              </a:rPr>
              <a:t>{ "id": "C1",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Courier New"/>
              </a:rPr>
              <a:t>  "name": "Ayesha",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Courier New"/>
              </a:rPr>
              <a:t>  "city": "Karachi",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Courier New"/>
              </a:rPr>
              <a:t>  "orders": [1200, 450]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7661" y="452628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D9661F"/>
                </a:solidFill>
                <a:latin typeface="Helvetica"/>
              </a:rPr>
              <a:t>Flexible, but needs parsing 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45221" y="1920240"/>
            <a:ext cx="3337560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73821" y="21031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2A6F97"/>
                </a:solidFill>
                <a:latin typeface="Helvetica"/>
              </a:rPr>
              <a:t>Unstructured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821" y="2697480"/>
            <a:ext cx="29260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1B2A41"/>
                </a:solidFill>
                <a:latin typeface="Helvetica"/>
              </a:rPr>
              <a:t>Review: "Delivery was fast but the box was damaged. Chai was great!"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3821" y="452628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D9661F"/>
                </a:solidFill>
                <a:latin typeface="Helvetica"/>
              </a:rPr>
              <a:t>Needs text analysis before it becomes a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" y="5532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1B2A41"/>
                </a:solidFill>
                <a:latin typeface="Helvetica"/>
              </a:rPr>
              <a:t>Rule of thumb: the less structure the data has, the more work comes before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Six neighbouring fields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360171"/>
              </p:ext>
            </p:extLst>
          </p:nvPr>
        </p:nvGraphicFramePr>
        <p:xfrm>
          <a:off x="825500" y="1526530"/>
          <a:ext cx="10553700" cy="4381901"/>
        </p:xfrm>
        <a:graphic>
          <a:graphicData uri="http://schemas.openxmlformats.org/drawingml/2006/table">
            <a:tbl>
              <a:tblPr/>
              <a:tblGrid>
                <a:gridCol w="2450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3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Field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it does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942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95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Statistics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094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Analytics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9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Machine Learning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2998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3385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Engineering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W01-S04 · Introduction to Data Science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7F7E3-5A38-D7BF-DB2F-D26B6304CFAA}"/>
              </a:ext>
            </a:extLst>
          </p:cNvPr>
          <p:cNvSpPr txBox="1"/>
          <p:nvPr/>
        </p:nvSpPr>
        <p:spPr>
          <a:xfrm>
            <a:off x="3245618" y="1999622"/>
            <a:ext cx="8120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Uses data, programming, statistics, and modeling to discover insights and solve problems.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D5FBFE-C752-E07B-2CBC-C9CC354061A3}"/>
              </a:ext>
            </a:extLst>
          </p:cNvPr>
          <p:cNvSpPr txBox="1"/>
          <p:nvPr/>
        </p:nvSpPr>
        <p:spPr>
          <a:xfrm>
            <a:off x="3255666" y="2679820"/>
            <a:ext cx="8133582" cy="649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40"/>
              </a:lnSpc>
            </a:pPr>
            <a:r>
              <a:rPr lang="en-US" dirty="0"/>
              <a:t>Helps us understand data, measure uncertainty, and draw conclusions using mathematical methods</a:t>
            </a: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.</a:t>
            </a:r>
            <a:endParaRPr lang="en-US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E4D08A-246A-333C-D2F3-87E067471424}"/>
              </a:ext>
            </a:extLst>
          </p:cNvPr>
          <p:cNvSpPr txBox="1"/>
          <p:nvPr/>
        </p:nvSpPr>
        <p:spPr>
          <a:xfrm>
            <a:off x="3268367" y="3297880"/>
            <a:ext cx="8133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Examines data to understand what happened, why it happened, and what actions we should take.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5049A-FAE0-8123-9694-2036198DC2E9}"/>
              </a:ext>
            </a:extLst>
          </p:cNvPr>
          <p:cNvSpPr txBox="1"/>
          <p:nvPr/>
        </p:nvSpPr>
        <p:spPr>
          <a:xfrm>
            <a:off x="3269693" y="3915940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Enables computers to learn patterns from data and use them to make predictions or decisions.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6DA554-57CB-E07C-218C-C6ECE6BDC0B5}"/>
              </a:ext>
            </a:extLst>
          </p:cNvPr>
          <p:cNvSpPr txBox="1"/>
          <p:nvPr/>
        </p:nvSpPr>
        <p:spPr>
          <a:xfrm>
            <a:off x="3281068" y="4577288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Develops systems that perform tasks associated with human intelligence, such as reasoning, understanding language, and solving problems.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324050-05C2-C6D7-D8FF-2C4B1E649499}"/>
              </a:ext>
            </a:extLst>
          </p:cNvPr>
          <p:cNvSpPr txBox="1"/>
          <p:nvPr/>
        </p:nvSpPr>
        <p:spPr>
          <a:xfrm>
            <a:off x="3269692" y="5282385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Builds systems and pipelines that collect, transform, store, and deliver reliable data for analysis and applications.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One company, five different questions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91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191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do we store and process millions of orders reliably?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942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005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005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products sold most last month?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756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819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Statistics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819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 this group difference likely real beyond our sample?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454230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19175" y="3660605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175" y="3980635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customer is likely to stop buying next month?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94200" y="3454230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00575" y="3660605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Science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00575" y="3980635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do we use all of this to understand and improve retention?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W01-S05 · Introduction to Data Science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F0473B-39E9-C8AA-66BC-24216E95A0D0}"/>
              </a:ext>
            </a:extLst>
          </p:cNvPr>
          <p:cNvSpPr txBox="1"/>
          <p:nvPr/>
        </p:nvSpPr>
        <p:spPr>
          <a:xfrm>
            <a:off x="812800" y="1460121"/>
            <a:ext cx="6261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Scenario: A company has millions of orders from customers.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From data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W01-X2 · Introduction to Data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01" y="1554480"/>
            <a:ext cx="2103120" cy="822960"/>
          </a:xfrm>
          <a:prstGeom prst="roundRect">
            <a:avLst>
              <a:gd name="adj" fmla="val 7000"/>
            </a:avLst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54480"/>
            <a:ext cx="822960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337560" y="164592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1B2A41"/>
                </a:solidFill>
                <a:latin typeface="Helvetica"/>
              </a:rPr>
              <a:t>Chai, 40, 09:15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201168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5F6B7A"/>
                </a:solidFill>
                <a:latin typeface="Helvetica"/>
              </a:rPr>
              <a:t>A raw record. On its own it says very little.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" y="2560320"/>
            <a:ext cx="2103120" cy="82296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Information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560320"/>
            <a:ext cx="822960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1B2A41"/>
                </a:solidFill>
                <a:latin typeface="Helvetica"/>
              </a:rPr>
              <a:t>Chai was ordered 24 times in three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301752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5F6B7A"/>
                </a:solidFill>
                <a:latin typeface="Helvetica"/>
              </a:rPr>
              <a:t>Data that has been organized and counted.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901" y="3566160"/>
            <a:ext cx="2103120" cy="822960"/>
          </a:xfrm>
          <a:prstGeom prst="roundRect">
            <a:avLst>
              <a:gd name="adj" fmla="val 7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Knowledge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3566160"/>
            <a:ext cx="822960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37560" y="365760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1B2A41"/>
                </a:solidFill>
                <a:latin typeface="Helvetica"/>
              </a:rPr>
              <a:t>Chai orders cluster before morning lectures.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40233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5F6B7A"/>
                </a:solidFill>
                <a:latin typeface="Helvetica"/>
              </a:rPr>
              <a:t>A pattern we can explain and test.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" y="4572000"/>
            <a:ext cx="2103120" cy="822960"/>
          </a:xfrm>
          <a:prstGeom prst="roundRect">
            <a:avLst>
              <a:gd name="adj" fmla="val 7000"/>
            </a:avLst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Decision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572000"/>
            <a:ext cx="8229600" cy="822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37560" y="466344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1B2A41"/>
                </a:solidFill>
                <a:latin typeface="Helvetica"/>
              </a:rPr>
              <a:t>Prepare the chai urn before the morning rush.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502920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5F6B7A"/>
                </a:solidFill>
                <a:latin typeface="Helvetica"/>
              </a:rPr>
              <a:t>Action chosen because of the knowledge.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901" y="56692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1B2A41"/>
                </a:solidFill>
                <a:latin typeface="Helvetica"/>
              </a:rPr>
              <a:t>Each step needs a check: is the step above really supported by the one below?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lifecycle: ML is one box of twelve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715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715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Problem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956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12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12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Question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53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309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309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550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0106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106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Quality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59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715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15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4956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12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12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53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309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Analysis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8550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0106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106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59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BE3D2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715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715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ML, if needed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4956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12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12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753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309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Communication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8550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0106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0106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12800" y="4396581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At every arrow ask: what could go wrong here?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The lifecycle on one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W01-X3 · Introduction to Data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01" y="1417320"/>
            <a:ext cx="10561320" cy="640080"/>
          </a:xfrm>
          <a:prstGeom prst="roundRect">
            <a:avLst>
              <a:gd name="adj" fmla="val 7000"/>
            </a:avLst>
          </a:prstGeom>
          <a:solidFill>
            <a:srgbClr val="FBE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1">
                <a:solidFill>
                  <a:srgbClr val="1B2A41"/>
                </a:solidFill>
                <a:latin typeface="Helvetica"/>
              </a:rPr>
              <a:t>Question: should the campus food stall add a new menu item?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" y="2286000"/>
            <a:ext cx="33375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1501" y="24688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A6F97"/>
                </a:solidFill>
                <a:latin typeface="Helvetica"/>
              </a:rPr>
              <a:t>1 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501" y="292608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Sales are flat and the owner wants to grow.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061" y="2286000"/>
            <a:ext cx="33375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07661" y="24688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A6F97"/>
                </a:solidFill>
                <a:latin typeface="Helvetica"/>
              </a:rPr>
              <a:t>2 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7661" y="292608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Which kind of item do students ask for most?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21" y="2286000"/>
            <a:ext cx="33375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73821" y="24688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A6F97"/>
                </a:solidFill>
                <a:latin typeface="Helvetica"/>
              </a:rPr>
              <a:t>3 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821" y="292608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Order records plus a short survey at the stall.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" y="4069080"/>
            <a:ext cx="33375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1501" y="4251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A6F97"/>
                </a:solidFill>
                <a:latin typeface="Helvetica"/>
              </a:rPr>
              <a:t>4 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501" y="470916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Check duplicates, missing items and spelling.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061" y="4069080"/>
            <a:ext cx="33375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07661" y="4251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A6F97"/>
                </a:solidFill>
                <a:latin typeface="Helvetica"/>
              </a:rPr>
              <a:t>5 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7661" y="470916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Compare orders by item, day and payment method.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5221" y="4069080"/>
            <a:ext cx="333756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73821" y="4251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2A6F97"/>
                </a:solidFill>
                <a:latin typeface="Helvetica"/>
              </a:rPr>
              <a:t>6  Decision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821" y="4709160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Trial one new item for two weeks, then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17676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10 million rows of unreliable data, or 10,000 trustworthy rows?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2800" y="354836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Think. Pair. Share. Then: better for what?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15796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Volume does not equal quality.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W01-S07 · Introduction to Data Science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Who is missing from this data?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W01-X4 · Introduction to Data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01" y="1554480"/>
            <a:ext cx="3337560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41501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1B2A41"/>
                </a:solidFill>
                <a:latin typeface="Helvetica"/>
              </a:rPr>
              <a:t>A survey on study hours, handed out in the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1501" y="31089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D9661F"/>
                </a:solidFill>
                <a:latin typeface="Helvetica"/>
              </a:rPr>
              <a:t>Who is missing?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1501" y="347472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Students who study at home or in hostels.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061" y="1554480"/>
            <a:ext cx="3337560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07661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1B2A41"/>
                </a:solidFill>
                <a:latin typeface="Helvetica"/>
              </a:rPr>
              <a:t>App ratings after a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7661" y="31089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D9661F"/>
                </a:solidFill>
                <a:latin typeface="Helvetica"/>
              </a:rPr>
              <a:t>Who is missing?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7661" y="347472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People who felt neutral, who rarely bother to 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5221" y="1554480"/>
            <a:ext cx="3337560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73821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1B2A41"/>
                </a:solidFill>
                <a:latin typeface="Helvetica"/>
              </a:rPr>
              <a:t>Exam marks of students who sat the paper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821" y="31089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D9661F"/>
                </a:solidFill>
                <a:latin typeface="Helvetica"/>
              </a:rPr>
              <a:t>Who is missing?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821" y="3474720"/>
            <a:ext cx="29260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Students who were absent or withdrew.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901" y="530352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1B2A41"/>
                </a:solidFill>
                <a:latin typeface="Helvetica"/>
              </a:rPr>
              <a:t>Before trusting a result, ask: who or what could not enter this dataset?</a:t>
            </a:r>
          </a:p>
          <a:p>
            <a:pPr>
              <a:spcBef>
                <a:spcPts val="400"/>
              </a:spcBef>
            </a:pPr>
            <a:r>
              <a:rPr sz="1800" b="1">
                <a:solidFill>
                  <a:srgbClr val="1B2A41"/>
                </a:solidFill>
                <a:latin typeface="Helvetica"/>
              </a:rPr>
              <a:t>The way data is collected decides what it can say.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Data Scientist's Seven Questions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W01-S08 · Introduction to Data Science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89AA1-359E-8EB6-9879-21CB315ADFD8}"/>
              </a:ext>
            </a:extLst>
          </p:cNvPr>
          <p:cNvSpPr txBox="1"/>
          <p:nvPr/>
        </p:nvSpPr>
        <p:spPr>
          <a:xfrm>
            <a:off x="703385" y="1986260"/>
            <a:ext cx="10690152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one row represent?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3F5932-974D-9F3E-3147-E34F5B7977C1}"/>
              </a:ext>
            </a:extLst>
          </p:cNvPr>
          <p:cNvSpPr txBox="1"/>
          <p:nvPr/>
        </p:nvSpPr>
        <p:spPr>
          <a:xfrm>
            <a:off x="703377" y="2415492"/>
            <a:ext cx="10690152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each column actually mean?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D160A-FF3F-536E-8D63-5F90B5254EF6}"/>
              </a:ext>
            </a:extLst>
          </p:cNvPr>
          <p:cNvSpPr txBox="1"/>
          <p:nvPr/>
        </p:nvSpPr>
        <p:spPr>
          <a:xfrm>
            <a:off x="703374" y="2853425"/>
            <a:ext cx="10690151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Can I trust this data?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FDED00-9A40-DDF8-412A-5D2AB005F8FD}"/>
              </a:ext>
            </a:extLst>
          </p:cNvPr>
          <p:cNvSpPr txBox="1"/>
          <p:nvPr/>
        </p:nvSpPr>
        <p:spPr>
          <a:xfrm>
            <a:off x="703378" y="3292705"/>
            <a:ext cx="10690151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missing, biased, duplicated or inconsistent?</a:t>
            </a:r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A4DDC9-4263-1322-151B-670082B7F319}"/>
              </a:ext>
            </a:extLst>
          </p:cNvPr>
          <p:cNvSpPr txBox="1"/>
          <p:nvPr/>
        </p:nvSpPr>
        <p:spPr>
          <a:xfrm>
            <a:off x="703374" y="3721937"/>
            <a:ext cx="10690151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question am I actually trying to answer?</a:t>
            </a:r>
            <a:endParaRPr lang="en-US" sz="1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46630-2457-C072-63F3-BF28F98F1AF7}"/>
              </a:ext>
            </a:extLst>
          </p:cNvPr>
          <p:cNvSpPr txBox="1"/>
          <p:nvPr/>
        </p:nvSpPr>
        <p:spPr>
          <a:xfrm>
            <a:off x="703374" y="4168254"/>
            <a:ext cx="10690150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decision could this analysis support?</a:t>
            </a:r>
            <a:endParaRPr 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3F8FE5-25BB-42D7-637F-731CF0FB36D6}"/>
              </a:ext>
            </a:extLst>
          </p:cNvPr>
          <p:cNvSpPr txBox="1"/>
          <p:nvPr/>
        </p:nvSpPr>
        <p:spPr>
          <a:xfrm>
            <a:off x="703372" y="1588485"/>
            <a:ext cx="1069015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Where did this data come from?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1" grpId="0"/>
      <p:bldP spid="13" grpId="0"/>
      <p:bldP spid="15" grpId="0"/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The Seven Questions, applied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W01-X5 · Introduction to Data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01" y="1463040"/>
            <a:ext cx="457200" cy="4572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46304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Where did it come from?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46304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5F6B7A"/>
                </a:solidFill>
                <a:latin typeface="Helvetica"/>
              </a:rPr>
              <a:t>Unknown. Ask who collected it, when and how.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" y="2066544"/>
            <a:ext cx="457200" cy="4572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66544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What does one row represent?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066544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5F6B7A"/>
                </a:solidFill>
                <a:latin typeface="Helvetica"/>
              </a:rPr>
              <a:t>Probably one customer, but the table does not say.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" y="2670048"/>
            <a:ext cx="457200" cy="4572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70048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What does each column mean?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70048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5F6B7A"/>
                </a:solidFill>
                <a:latin typeface="Helvetica"/>
              </a:rPr>
              <a:t>Is Income monthly or yearly? In which currency?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" y="3273552"/>
            <a:ext cx="457200" cy="4572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273552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Can I trust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273552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5F6B7A"/>
                </a:solidFill>
                <a:latin typeface="Helvetica"/>
              </a:rPr>
              <a:t>Not yet: ages of -5 and 999 look impossible.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" y="3877056"/>
            <a:ext cx="457200" cy="4572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77056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What is missing or inconsistent?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877056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5F6B7A"/>
                </a:solidFill>
                <a:latin typeface="Helvetica"/>
              </a:rPr>
              <a:t>Purchases for E is "?", and Karachi vs karachi.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" y="4480560"/>
            <a:ext cx="457200" cy="4572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48056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What question am I answering?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448056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5F6B7A"/>
                </a:solidFill>
                <a:latin typeface="Helvetica"/>
              </a:rPr>
              <a:t>Not defined yet. Decide before computing.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" y="5084064"/>
            <a:ext cx="457200" cy="4572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084064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What decision could this support?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5084064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 b="0">
                <a:solidFill>
                  <a:srgbClr val="5F6B7A"/>
                </a:solidFill>
                <a:latin typeface="Helvetica"/>
              </a:rPr>
              <a:t>For example, which customers get a discount.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What a strong finding sounds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W01-X6 · Introduction to Data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01" y="1508760"/>
            <a:ext cx="1554480" cy="1143000"/>
          </a:xfrm>
          <a:prstGeom prst="roundRect">
            <a:avLst>
              <a:gd name="adj" fmla="val 7000"/>
            </a:avLst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Weak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508760"/>
            <a:ext cx="8778240" cy="114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88920" y="1600200"/>
            <a:ext cx="83210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 b="0">
                <a:solidFill>
                  <a:srgbClr val="1B2A41"/>
                </a:solidFill>
                <a:latin typeface="Helvetica"/>
              </a:rPr>
              <a:t>The data has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" y="2834639"/>
            <a:ext cx="1554480" cy="1143000"/>
          </a:xfrm>
          <a:prstGeom prst="roundRect">
            <a:avLst>
              <a:gd name="adj" fmla="val 7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Better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834639"/>
            <a:ext cx="8778240" cy="114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88920" y="2926079"/>
            <a:ext cx="83210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 b="0">
                <a:solidFill>
                  <a:srgbClr val="1B2A41"/>
                </a:solidFill>
                <a:latin typeface="Helvetica"/>
              </a:rPr>
              <a:t>Customer C has an age of -5.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" y="4160520"/>
            <a:ext cx="1554480" cy="1417320"/>
          </a:xfrm>
          <a:prstGeom prst="roundRect">
            <a:avLst>
              <a:gd name="adj" fmla="val 7000"/>
            </a:avLst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Strong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4160520"/>
            <a:ext cx="877824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88920" y="4251959"/>
            <a:ext cx="83210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700" b="1">
                <a:solidFill>
                  <a:srgbClr val="1B2A41"/>
                </a:solidFill>
                <a:latin typeface="Helvetica"/>
              </a:rPr>
              <a:t>Customer C has an age of -5, which is impossible. It may be a typo or a code for unknown, so we would check the source before removing or fixing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901" y="57607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1">
                <a:solidFill>
                  <a:srgbClr val="1B2A41"/>
                </a:solidFill>
                <a:latin typeface="Helvetica"/>
              </a:rPr>
              <a:t>Formula: what you saw + the evidence + why it matters + what you would do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1379200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Group investigation: understand before you touch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3587750" cy="2405360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723380"/>
            <a:ext cx="3270250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22350" y="2058640"/>
            <a:ext cx="3270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models.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2350" y="2401540"/>
            <a:ext cx="3270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cleaning yet.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2744440"/>
            <a:ext cx="327025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first job is to understand the data.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13275" y="1517005"/>
            <a:ext cx="6762750" cy="2405360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19650" y="1723380"/>
            <a:ext cx="6540500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903470" y="2058640"/>
            <a:ext cx="644906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one row represents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Five observations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quality concerns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useful questions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Two questions the data cannot answer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possible decision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4179540"/>
            <a:ext cx="10883392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use the Seven Questions as a checklist. Core: all six items. Stretch: sketch a cleaning plan you will not run yet. 40 minutes.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W01-S09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Can these two datasets be combined?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5175250" cy="133980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7233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A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22350" y="20586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order_id, customer_id, amount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2350" y="2401540"/>
            <a:ext cx="4905375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row per ...?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1517005"/>
            <a:ext cx="5175250" cy="133980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7150" y="17233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7150" y="20586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customer_id, month, segment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7150" y="2401540"/>
            <a:ext cx="4905375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row per ...?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289937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not join yet. Feel the problem first.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W01-S10 · Introduction to Data Science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01CA261-6BD6-1E84-691B-87FEFEBD4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823" y="3226990"/>
            <a:ext cx="9091246" cy="3033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Beliefs to retire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530"/>
          <a:ext cx="10553700" cy="2196705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might think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 is Python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Python is a tool; Data Science is the reasoning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 is Machine Learning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ML is one stage of the lifecycle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More data is always better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Quality, representativeness and relevance matter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dataset is the truth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dataset is a record someone made; question it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80"/>
            <a:ext cx="39679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Who does what on a data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W01-X7 · Introduction to Data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01" y="1554480"/>
            <a:ext cx="33375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41501" y="17373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2A6F97"/>
                </a:solidFill>
                <a:latin typeface="Helvetica"/>
              </a:rPr>
              <a:t>Data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1501" y="2240280"/>
            <a:ext cx="2926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Builds the pipelines that collect, store and deliver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061" y="1554480"/>
            <a:ext cx="33375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07661" y="17373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2A6F97"/>
                </a:solidFill>
                <a:latin typeface="Helvetica"/>
              </a:rPr>
              <a:t>Data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7661" y="2240280"/>
            <a:ext cx="2926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Answers business questions with reports and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45221" y="1554480"/>
            <a:ext cx="33375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73821" y="17373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2A6F97"/>
                </a:solidFill>
                <a:latin typeface="Helvetica"/>
              </a:rPr>
              <a:t>Data Scientist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3821" y="2240280"/>
            <a:ext cx="2926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Frames the problem, analyzes, models and explains the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" y="3520439"/>
            <a:ext cx="33375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1501" y="37033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2A6F97"/>
                </a:solidFill>
                <a:latin typeface="Helvetica"/>
              </a:rPr>
              <a:t>ML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501" y="4206240"/>
            <a:ext cx="2926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Turns models into reliable software that others can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061" y="3520439"/>
            <a:ext cx="33375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07661" y="37033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solidFill>
                  <a:srgbClr val="2A6F97"/>
                </a:solidFill>
                <a:latin typeface="Helvetica"/>
              </a:rPr>
              <a:t>Domain Expert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7661" y="4206240"/>
            <a:ext cx="2926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Knows what the data means in the real world.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5221" y="3520440"/>
            <a:ext cx="3337560" cy="1783080"/>
          </a:xfrm>
          <a:prstGeom prst="roundRect">
            <a:avLst>
              <a:gd name="adj" fmla="val 7000"/>
            </a:avLst>
          </a:prstGeom>
          <a:solidFill>
            <a:srgbClr val="FBE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3821" y="370332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1B2A41"/>
                </a:solidFill>
                <a:latin typeface="Helvetica"/>
              </a:rPr>
              <a:t>Roles overlap, especially in small teams. This course gives you the shared foundation for all of them.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</p:spPr>
        <p:txBody>
          <a:bodyPr wrap="square" lIns="0" tIns="0" rIns="0" bIns="0"/>
          <a:lstStyle/>
          <a:p>
            <a:pPr algn="l"/>
            <a:r>
              <a:rPr sz="3200" b="1">
                <a:solidFill>
                  <a:srgbClr val="1B2A41"/>
                </a:solidFill>
                <a:latin typeface="Georgia"/>
              </a:rPr>
              <a:t>Glossary and take-home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901" y="62380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>
                <a:solidFill>
                  <a:srgbClr val="5F6B7A"/>
                </a:solidFill>
                <a:latin typeface="Helvetica"/>
              </a:rPr>
              <a:t>W01-X8 · Introduction to Data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901" y="1463040"/>
            <a:ext cx="594360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2A6F97"/>
                </a:solidFill>
                <a:latin typeface="Helvetica"/>
              </a:rPr>
              <a:t>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54864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>
                <a:solidFill>
                  <a:srgbClr val="1B2A41"/>
                </a:solidFill>
                <a:latin typeface="Helvetica"/>
              </a:rPr>
              <a:t>Row (record, observation): one thing described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Helvetica"/>
              </a:rPr>
              <a:t>Column (variable, feature): one property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Helvetica"/>
              </a:rPr>
              <a:t>Value: one cell in the table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Helvetica"/>
              </a:rPr>
              <a:t>Dataset: rows and columns on one topic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Helvetica"/>
              </a:rPr>
              <a:t>Label (target): the answer we want to predict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Helvetica"/>
              </a:rPr>
              <a:t>Missing value: nothing recorded in a cell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Helvetica"/>
              </a:rPr>
              <a:t>Outlier: a value far from the rest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1B2A41"/>
                </a:solidFill>
                <a:latin typeface="Helvetica"/>
              </a:rPr>
              <a:t>Grain: what one row represents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463040"/>
            <a:ext cx="4334256" cy="4297680"/>
          </a:xfrm>
          <a:prstGeom prst="roundRect">
            <a:avLst>
              <a:gd name="adj" fmla="val 7000"/>
            </a:avLst>
          </a:prstGeom>
          <a:solidFill>
            <a:srgbClr val="FBE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69480" y="16459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>
                <a:solidFill>
                  <a:srgbClr val="D9661F"/>
                </a:solidFill>
                <a:latin typeface="Helvetica"/>
              </a:rPr>
              <a:t>Take-home: Data Diary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2194560"/>
            <a:ext cx="393192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1B2A41"/>
                </a:solidFill>
                <a:latin typeface="Helvetica"/>
              </a:rPr>
              <a:t>For three days, record one thing about your day: chai cups, screen time or commute minutes.</a:t>
            </a:r>
          </a:p>
          <a:p>
            <a:pPr>
              <a:spcBef>
                <a:spcPts val="400"/>
              </a:spcBef>
            </a:pPr>
            <a:endParaRPr sz="1600" b="0">
              <a:solidFill>
                <a:srgbClr val="1B2A41"/>
              </a:solidFill>
              <a:latin typeface="Helvetica"/>
            </a:endParaRP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1B2A41"/>
                </a:solidFill>
                <a:latin typeface="Helvetica"/>
              </a:rPr>
              <a:t>Then answer the Seven Questions about your own data.</a:t>
            </a:r>
          </a:p>
          <a:p>
            <a:pPr>
              <a:spcBef>
                <a:spcPts val="400"/>
              </a:spcBef>
            </a:pPr>
            <a:endParaRPr sz="1600" b="0">
              <a:solidFill>
                <a:srgbClr val="1B2A41"/>
              </a:solidFill>
              <a:latin typeface="Helvetica"/>
            </a:endParaRPr>
          </a:p>
          <a:p>
            <a:pPr>
              <a:spcBef>
                <a:spcPts val="400"/>
              </a:spcBef>
            </a:pPr>
            <a:r>
              <a:rPr sz="1600" b="0">
                <a:solidFill>
                  <a:srgbClr val="1B2A41"/>
                </a:solidFill>
                <a:latin typeface="Helvetica"/>
              </a:rPr>
              <a:t>Bring it to Week 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Exit ticket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84374" y="1513830"/>
            <a:ext cx="10904198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Data Science?</a:t>
            </a:r>
            <a:endParaRPr lang="en-US" sz="2000" dirty="0"/>
          </a:p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one misconception you had?</a:t>
            </a:r>
            <a:endParaRPr lang="en-US" sz="2000" dirty="0"/>
          </a:p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are the first three questions you will ask about any new dataset?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29108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Before Week 2: set up Google Colab and a GitHub account.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 to Data Science — Week 1: What Is Data Science?">
  <a:themeElements>
    <a:clrScheme name="Intro to Data Science — Week 1: What Is Data Science?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D9661F"/>
      </a:accent1>
      <a:accent2>
        <a:srgbClr val="2A6F97"/>
      </a:accent2>
      <a:accent3>
        <a:srgbClr val="9FB3C8"/>
      </a:accent3>
      <a:accent4>
        <a:srgbClr val="FBE3D2"/>
      </a:accent4>
      <a:accent5>
        <a:srgbClr val="5F6B7A"/>
      </a:accent5>
      <a:accent6>
        <a:srgbClr val="9AA0A6"/>
      </a:accent6>
      <a:hlink>
        <a:srgbClr val="0563C1"/>
      </a:hlink>
      <a:folHlink>
        <a:srgbClr val="954F72"/>
      </a:folHlink>
    </a:clrScheme>
    <a:fontScheme name="Intro to Data Science — Week 1: What Is Data Science?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1934</Words>
  <Application>Microsoft Macintosh PowerPoint</Application>
  <PresentationFormat>Widescreen</PresentationFormat>
  <Paragraphs>308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Courier New</vt:lpstr>
      <vt:lpstr>Georgia</vt:lpstr>
      <vt:lpstr>Helvetica</vt:lpstr>
      <vt:lpstr>Intro to Data Science — Week 1: What Is Data Science?</vt:lpstr>
      <vt:lpstr>Introduction to Data Science</vt:lpstr>
      <vt:lpstr>What do you notice?</vt:lpstr>
      <vt:lpstr>Data Science turns raw data into decisions</vt:lpstr>
      <vt:lpstr>One fact, three shapes</vt:lpstr>
      <vt:lpstr>Six neighbouring fields</vt:lpstr>
      <vt:lpstr>One company, five different questions</vt:lpstr>
      <vt:lpstr>From data to decision</vt:lpstr>
      <vt:lpstr>The lifecycle: ML is one box of twelve</vt:lpstr>
      <vt:lpstr>The lifecycle on one real question</vt:lpstr>
      <vt:lpstr>10 million rows of unreliable data, or 10,000 trustworthy rows?</vt:lpstr>
      <vt:lpstr>Who is missing from this data?</vt:lpstr>
      <vt:lpstr>The Data Scientist's Seven Questions</vt:lpstr>
      <vt:lpstr>The Seven Questions, applied</vt:lpstr>
      <vt:lpstr>What a strong finding sounds like</vt:lpstr>
      <vt:lpstr>Group investigation: understand before you touch</vt:lpstr>
      <vt:lpstr>Can these two datasets be combined?</vt:lpstr>
      <vt:lpstr>Beliefs to retire</vt:lpstr>
      <vt:lpstr>Who does what on a data team</vt:lpstr>
      <vt:lpstr>Glossary and take-home challenge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1: What Is Data Science?</dc:title>
  <dc:subject/>
  <dc:creator/>
  <cp:lastModifiedBy>Abdul Rauf</cp:lastModifiedBy>
  <cp:revision>16</cp:revision>
  <dcterms:created xsi:type="dcterms:W3CDTF">2026-10-12T14:07:41Z</dcterms:created>
  <dcterms:modified xsi:type="dcterms:W3CDTF">2026-10-17T15:17:14Z</dcterms:modified>
</cp:coreProperties>
</file>