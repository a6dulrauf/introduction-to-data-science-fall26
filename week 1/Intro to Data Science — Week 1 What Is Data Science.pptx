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386"/>
    <p:restoredTop sz="94610"/>
  </p:normalViewPr>
  <p:slideViewPr>
    <p:cSldViewPr snapToGrid="0" snapToObjects="1">
      <p:cViewPr varScale="1">
        <p:scale>
          <a:sx n="145" d="100"/>
          <a:sy n="145" d="100"/>
        </p:scale>
        <p:origin x="42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4779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W01-S01. Arrive early, put this up, and open with the next slide immediately. No definitions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W01-S02. Say the prompt, then stay quiet. Do not correct anyone yet. Watch whether students spot quality issues, jump to averages, or ask where the data came from.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W01-S03. Data is recorded observations: Age = 24, Temperature = 32.5C, City = Karachi, a review, an image. Ask which of the three shapes the messy table was.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W01-S04. Fields overlap; these labels describe emphasis, not walls.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W01-S05. Read each question aloud and let students name the field before revealing the card.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W01-S06. Draw the lifecycle on the board first, then reveal this slide. Ask where Machine Learning is. At each arrow, collect one thing that could go wrong.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W01-S07. Give 2 minutes of think-pair-share. If someone says 10 million, ask: better for what?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W01-S08. Students first write their own questions, then map them to these seven. This poster returns every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W01-S09. Walk around asking: why did you call that a problem, what evidence supports it, what does one row represent?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W01-S10. Do not teach joins. Collect guesses about what could go wrong when the grain differs. Joins come in Week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W01-S11. Ask which belief each student held before today. Tally on the board and start Week 2 with the most common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W01-S12. Collect on paper or a form. Strong answers: what problem, where did the data come from, what does one row represent.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447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200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564630"/>
            <a:ext cx="10566400" cy="4480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447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200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564630"/>
            <a:ext cx="10566400" cy="4480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6dulrauf/introduction-to-data-science-fall26/blob/main/week%201/dataset1_campus_food_stall_orders.csv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17175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BS DATA SCIENCE</a:t>
            </a:r>
            <a:endParaRPr lang="en-US" sz="16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2659410"/>
            <a:ext cx="11379200" cy="77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880"/>
              </a:lnSpc>
              <a:buNone/>
            </a:pPr>
            <a:r>
              <a:rPr lang="en-US" sz="5600" b="1" i="0" dirty="0">
                <a:solidFill>
                  <a:srgbClr val="F7F5EF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Introduction to Data Science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812800" y="3609330"/>
            <a:ext cx="10883392" cy="3758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760"/>
              </a:lnSpc>
              <a:buNone/>
            </a:pPr>
            <a:r>
              <a:rPr lang="en-US" sz="2400" dirty="0">
                <a:solidFill>
                  <a:srgbClr val="F7F5E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Is Data Science?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12800" y="4163020"/>
            <a:ext cx="1088339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dirty="0">
                <a:solidFill>
                  <a:srgbClr val="9FB3C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Raw Data → Evidence → Insight → Decision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12800" y="6238280"/>
            <a:ext cx="39815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3C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W01-S01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What do you notice?</a:t>
            </a:r>
            <a:endParaRPr lang="en-US" sz="3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526530"/>
          <a:ext cx="10553700" cy="2956026"/>
        </p:xfrm>
        <a:graphic>
          <a:graphicData uri="http://schemas.openxmlformats.org/drawingml/2006/table">
            <a:tbl>
              <a:tblPr/>
              <a:tblGrid>
                <a:gridCol w="21107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10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107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107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107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92671"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Customer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Age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City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Purchases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Income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2671"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21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Karachi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4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80,000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671"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B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24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Lahore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7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95,000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671"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-5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Karachi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3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70,000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671"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999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Karachi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8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110,000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2671"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E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25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karachi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?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120,000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812800" y="4736554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 definitions. For ten minutes, behave like a Data Scientist.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812800" y="6238280"/>
            <a:ext cx="39815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W01-S02 · Introduction to Data Science</a:t>
            </a:r>
            <a:endParaRPr lang="en-US" sz="120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CB6085FC-DF33-257D-ECB9-50FEB0402C5B}"/>
              </a:ext>
            </a:extLst>
          </p:cNvPr>
          <p:cNvSpPr/>
          <p:nvPr/>
        </p:nvSpPr>
        <p:spPr>
          <a:xfrm>
            <a:off x="812800" y="5177557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2240"/>
              </a:lnSpc>
            </a:pPr>
            <a:r>
              <a:rPr lang="en-US" sz="16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Any Questions about this dataset? List them.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Data Science turns raw data into decisions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12800" y="1513830"/>
            <a:ext cx="10883392" cy="6425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30"/>
              </a:lnSpc>
              <a:buNone/>
            </a:pPr>
            <a:r>
              <a:rPr lang="en-US" sz="18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 reasoning process for getting evidence, insight and decisions out of recorded observations. The data comes in three shapes.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15975" y="2388146"/>
            <a:ext cx="3380284" cy="1355030"/>
          </a:xfrm>
          <a:prstGeom prst="roundRect">
            <a:avLst>
              <a:gd name="adj" fmla="val 7264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22350" y="2594521"/>
            <a:ext cx="3056560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Structured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22350" y="2945011"/>
            <a:ext cx="305656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Rows and columns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22350" y="3287911"/>
            <a:ext cx="305656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ID | Age | Salary | City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05809" y="2388146"/>
            <a:ext cx="3380333" cy="1355030"/>
          </a:xfrm>
          <a:prstGeom prst="roundRect">
            <a:avLst>
              <a:gd name="adj" fmla="val 7264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612184" y="2594521"/>
            <a:ext cx="3056611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Semi-structured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612184" y="2945011"/>
            <a:ext cx="3056611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Tagged, nested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2184" y="3287911"/>
            <a:ext cx="3056611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JSON: id, name, skills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995692" y="2388146"/>
            <a:ext cx="3380333" cy="1355030"/>
          </a:xfrm>
          <a:prstGeom prst="roundRect">
            <a:avLst>
              <a:gd name="adj" fmla="val 7264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202067" y="2594521"/>
            <a:ext cx="3056611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Unstructured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202067" y="2945011"/>
            <a:ext cx="3056611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 fixed layout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02067" y="3287911"/>
            <a:ext cx="3056611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Text, images, audio, video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12800" y="6238280"/>
            <a:ext cx="39815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W01-S03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Six neighbouring fields</a:t>
            </a:r>
            <a:endParaRPr lang="en-US" sz="3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5360171"/>
              </p:ext>
            </p:extLst>
          </p:nvPr>
        </p:nvGraphicFramePr>
        <p:xfrm>
          <a:off x="825500" y="1526530"/>
          <a:ext cx="10553700" cy="4381901"/>
        </p:xfrm>
        <a:graphic>
          <a:graphicData uri="http://schemas.openxmlformats.org/drawingml/2006/table">
            <a:tbl>
              <a:tblPr/>
              <a:tblGrid>
                <a:gridCol w="24502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034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93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80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Field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80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What it does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6942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Data Science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950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Statistics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3094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Data Analytics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319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Machine Learning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2998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AI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03385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Data Engineering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812800" y="6238280"/>
            <a:ext cx="39815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W01-S04 · Introduction to Data Science</a:t>
            </a:r>
            <a:endParaRPr lang="en-US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F7F7E3-5A38-D7BF-DB2F-D26B6304CFAA}"/>
              </a:ext>
            </a:extLst>
          </p:cNvPr>
          <p:cNvSpPr txBox="1"/>
          <p:nvPr/>
        </p:nvSpPr>
        <p:spPr>
          <a:xfrm>
            <a:off x="3245618" y="1999622"/>
            <a:ext cx="81208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Uses data, programming, statistics, and modeling to discover insights and solve problems.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D5FBFE-C752-E07B-2CBC-C9CC354061A3}"/>
              </a:ext>
            </a:extLst>
          </p:cNvPr>
          <p:cNvSpPr txBox="1"/>
          <p:nvPr/>
        </p:nvSpPr>
        <p:spPr>
          <a:xfrm>
            <a:off x="3255666" y="2679820"/>
            <a:ext cx="8133582" cy="649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240"/>
              </a:lnSpc>
            </a:pPr>
            <a:r>
              <a:rPr lang="en-US" dirty="0"/>
              <a:t>Helps us understand data, measure uncertainty, and draw conclusions using mathematical methods</a:t>
            </a:r>
            <a:r>
              <a:rPr lang="en-US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.</a:t>
            </a:r>
            <a:endParaRPr lang="en-US" dirty="0">
              <a:latin typeface="Helvetica" charset="0"/>
              <a:ea typeface="Helvetica" charset="0"/>
              <a:cs typeface="Helvetica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E4D08A-246A-333C-D2F3-87E067471424}"/>
              </a:ext>
            </a:extLst>
          </p:cNvPr>
          <p:cNvSpPr txBox="1"/>
          <p:nvPr/>
        </p:nvSpPr>
        <p:spPr>
          <a:xfrm>
            <a:off x="3268367" y="3297880"/>
            <a:ext cx="81335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Examines data to understand what happened, why it happened, and what actions we should take.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C5049A-FAE0-8123-9694-2036198DC2E9}"/>
              </a:ext>
            </a:extLst>
          </p:cNvPr>
          <p:cNvSpPr txBox="1"/>
          <p:nvPr/>
        </p:nvSpPr>
        <p:spPr>
          <a:xfrm>
            <a:off x="3269693" y="3915940"/>
            <a:ext cx="81208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Enables computers to learn patterns from data and use them to make predictions or decisions.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6DA554-57CB-E07C-218C-C6ECE6BDC0B5}"/>
              </a:ext>
            </a:extLst>
          </p:cNvPr>
          <p:cNvSpPr txBox="1"/>
          <p:nvPr/>
        </p:nvSpPr>
        <p:spPr>
          <a:xfrm>
            <a:off x="3281068" y="4577288"/>
            <a:ext cx="81208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Develops systems that perform tasks associated with human intelligence, such as reasoning, understanding language, and solving problems.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324050-05C2-C6D7-D8FF-2C4B1E649499}"/>
              </a:ext>
            </a:extLst>
          </p:cNvPr>
          <p:cNvSpPr txBox="1"/>
          <p:nvPr/>
        </p:nvSpPr>
        <p:spPr>
          <a:xfrm>
            <a:off x="3269692" y="5282385"/>
            <a:ext cx="81208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Builds systems and pipelines that collect, transform, store, and deliver reliable data for analysis and applications.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  <p:bldP spid="8" grpId="0"/>
      <p:bldP spid="9" grpId="0"/>
      <p:bldP spid="10" grpId="0"/>
      <p:bldP spid="1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One company, five different questions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12800" y="2039519"/>
            <a:ext cx="3397250" cy="1230561"/>
          </a:xfrm>
          <a:prstGeom prst="roundRect">
            <a:avLst>
              <a:gd name="adj" fmla="val 7998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019175" y="2245894"/>
            <a:ext cx="3074035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Engineering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19175" y="2565924"/>
            <a:ext cx="3074035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How do we store and process millions of orders reliably?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394200" y="2039519"/>
            <a:ext cx="3397250" cy="1230561"/>
          </a:xfrm>
          <a:prstGeom prst="roundRect">
            <a:avLst>
              <a:gd name="adj" fmla="val 7998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600575" y="2245894"/>
            <a:ext cx="3074035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Analytics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600575" y="2565924"/>
            <a:ext cx="3074035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Which products sold most last month?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975600" y="2039519"/>
            <a:ext cx="3397250" cy="1230561"/>
          </a:xfrm>
          <a:prstGeom prst="roundRect">
            <a:avLst>
              <a:gd name="adj" fmla="val 7998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181975" y="2245894"/>
            <a:ext cx="3074035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Statistics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181975" y="2565924"/>
            <a:ext cx="3074035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Is this group difference likely real beyond our sample?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12800" y="3454230"/>
            <a:ext cx="3397250" cy="1230561"/>
          </a:xfrm>
          <a:prstGeom prst="roundRect">
            <a:avLst>
              <a:gd name="adj" fmla="val 7998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19175" y="3660605"/>
            <a:ext cx="3074035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Machine Learning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19175" y="3980635"/>
            <a:ext cx="3074035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Which customer is likely to stop buying next month?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394200" y="3454230"/>
            <a:ext cx="3397250" cy="1230561"/>
          </a:xfrm>
          <a:prstGeom prst="roundRect">
            <a:avLst>
              <a:gd name="adj" fmla="val 7998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600575" y="3660605"/>
            <a:ext cx="3074035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Science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600575" y="3980635"/>
            <a:ext cx="3074035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How do we use all of this to understand and improve retention?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12800" y="6238280"/>
            <a:ext cx="39815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W01-S05 · Introduction to Data Science</a:t>
            </a:r>
            <a:endParaRPr 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BF0473B-39E9-C8AA-66BC-24216E95A0D0}"/>
              </a:ext>
            </a:extLst>
          </p:cNvPr>
          <p:cNvSpPr txBox="1"/>
          <p:nvPr/>
        </p:nvSpPr>
        <p:spPr>
          <a:xfrm>
            <a:off x="812800" y="1460121"/>
            <a:ext cx="62612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Scenario: A company has millions of orders from customers.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7" dur="500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The lifecycle: ML is one box of twelve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15975" y="1517005"/>
            <a:ext cx="2520950" cy="768300"/>
          </a:xfrm>
          <a:prstGeom prst="roundRect">
            <a:avLst>
              <a:gd name="adj" fmla="val 12811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71550" y="1672580"/>
            <a:ext cx="22760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971550" y="1885900"/>
            <a:ext cx="2276094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Problem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495675" y="1517005"/>
            <a:ext cx="2520950" cy="768300"/>
          </a:xfrm>
          <a:prstGeom prst="roundRect">
            <a:avLst>
              <a:gd name="adj" fmla="val 12811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651250" y="1672580"/>
            <a:ext cx="22760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1250" y="1885900"/>
            <a:ext cx="2276094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Question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175375" y="1517005"/>
            <a:ext cx="2520950" cy="768300"/>
          </a:xfrm>
          <a:prstGeom prst="roundRect">
            <a:avLst>
              <a:gd name="adj" fmla="val 12811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330950" y="1672580"/>
            <a:ext cx="22760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30950" y="1885900"/>
            <a:ext cx="2276094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855075" y="1517005"/>
            <a:ext cx="2520950" cy="768300"/>
          </a:xfrm>
          <a:prstGeom prst="roundRect">
            <a:avLst>
              <a:gd name="adj" fmla="val 12811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010650" y="1672580"/>
            <a:ext cx="22760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010650" y="1885900"/>
            <a:ext cx="2276094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Quality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5975" y="2444055"/>
            <a:ext cx="2520950" cy="768300"/>
          </a:xfrm>
          <a:prstGeom prst="roundRect">
            <a:avLst>
              <a:gd name="adj" fmla="val 12811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71550" y="2599630"/>
            <a:ext cx="22760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71550" y="2812951"/>
            <a:ext cx="2276094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Cleaning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3495675" y="2444055"/>
            <a:ext cx="2520950" cy="768300"/>
          </a:xfrm>
          <a:prstGeom prst="roundRect">
            <a:avLst>
              <a:gd name="adj" fmla="val 12811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651250" y="2599630"/>
            <a:ext cx="22760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651250" y="2812951"/>
            <a:ext cx="2276094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EDA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175375" y="2444055"/>
            <a:ext cx="2520950" cy="768300"/>
          </a:xfrm>
          <a:prstGeom prst="roundRect">
            <a:avLst>
              <a:gd name="adj" fmla="val 12811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330950" y="2599630"/>
            <a:ext cx="22760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7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30950" y="2812951"/>
            <a:ext cx="2276094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Analysis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855075" y="2444055"/>
            <a:ext cx="2520950" cy="768300"/>
          </a:xfrm>
          <a:prstGeom prst="roundRect">
            <a:avLst>
              <a:gd name="adj" fmla="val 12811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9010650" y="2599630"/>
            <a:ext cx="22760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010650" y="2812951"/>
            <a:ext cx="2276094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Visualization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15975" y="3371106"/>
            <a:ext cx="2520950" cy="768300"/>
          </a:xfrm>
          <a:prstGeom prst="roundRect">
            <a:avLst>
              <a:gd name="adj" fmla="val 12811"/>
            </a:avLst>
          </a:prstGeom>
          <a:solidFill>
            <a:srgbClr val="FBE3D2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971550" y="3526681"/>
            <a:ext cx="22760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9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71550" y="3740001"/>
            <a:ext cx="2276094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ML, if needed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3495675" y="3371106"/>
            <a:ext cx="2520950" cy="768300"/>
          </a:xfrm>
          <a:prstGeom prst="roundRect">
            <a:avLst>
              <a:gd name="adj" fmla="val 12811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3651250" y="3526681"/>
            <a:ext cx="22760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10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651250" y="3740001"/>
            <a:ext cx="2276094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Evaluation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175375" y="3371106"/>
            <a:ext cx="2520950" cy="768300"/>
          </a:xfrm>
          <a:prstGeom prst="roundRect">
            <a:avLst>
              <a:gd name="adj" fmla="val 12811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330950" y="3526681"/>
            <a:ext cx="22760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11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330950" y="3740001"/>
            <a:ext cx="2276094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Communication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8855075" y="3371106"/>
            <a:ext cx="2520950" cy="768300"/>
          </a:xfrm>
          <a:prstGeom prst="roundRect">
            <a:avLst>
              <a:gd name="adj" fmla="val 12811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9010650" y="3526681"/>
            <a:ext cx="22760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12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9010650" y="3740001"/>
            <a:ext cx="2276094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Decision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812800" y="4396581"/>
            <a:ext cx="10883392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</a:pPr>
            <a:r>
              <a:rPr lang="en-US" sz="17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At every arrow ask: what could go wrong here?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812800" y="6238280"/>
            <a:ext cx="39815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W01-S06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966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2176760"/>
            <a:ext cx="10883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10 million rows of unreliable data, or 10,000 trustworthy rows?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812800" y="3548360"/>
            <a:ext cx="108833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Think. Pair. Share. Then: better for what?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12800" y="4157960"/>
            <a:ext cx="1088339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Volume does not equal quality.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12800" y="6238280"/>
            <a:ext cx="39815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W01-S07 · Introduction to Data Science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The Data Scientist's Seven Questions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6238280"/>
            <a:ext cx="39815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W01-S08 · Introduction to Data Science</a:t>
            </a:r>
            <a:endParaRPr lang="en-US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889AA1-359E-8EB6-9879-21CB315ADFD8}"/>
              </a:ext>
            </a:extLst>
          </p:cNvPr>
          <p:cNvSpPr txBox="1"/>
          <p:nvPr/>
        </p:nvSpPr>
        <p:spPr>
          <a:xfrm>
            <a:off x="703385" y="1986260"/>
            <a:ext cx="10690152" cy="434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ts val="285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does one row represent?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3F5932-974D-9F3E-3147-E34F5B7977C1}"/>
              </a:ext>
            </a:extLst>
          </p:cNvPr>
          <p:cNvSpPr txBox="1"/>
          <p:nvPr/>
        </p:nvSpPr>
        <p:spPr>
          <a:xfrm>
            <a:off x="703377" y="2415492"/>
            <a:ext cx="10690152" cy="434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ts val="285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does each column actually mean?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4D160A-FF3F-536E-8D63-5F90B5254EF6}"/>
              </a:ext>
            </a:extLst>
          </p:cNvPr>
          <p:cNvSpPr txBox="1"/>
          <p:nvPr/>
        </p:nvSpPr>
        <p:spPr>
          <a:xfrm>
            <a:off x="703374" y="2853425"/>
            <a:ext cx="10690151" cy="434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ts val="285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Can I trust this data?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FDED00-9A40-DDF8-412A-5D2AB005F8FD}"/>
              </a:ext>
            </a:extLst>
          </p:cNvPr>
          <p:cNvSpPr txBox="1"/>
          <p:nvPr/>
        </p:nvSpPr>
        <p:spPr>
          <a:xfrm>
            <a:off x="703378" y="3292705"/>
            <a:ext cx="10690151" cy="4349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ts val="285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is missing, biased, duplicated or inconsistent?</a:t>
            </a:r>
            <a:endParaRPr lang="en-US" sz="18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A4DDC9-4263-1322-151B-670082B7F319}"/>
              </a:ext>
            </a:extLst>
          </p:cNvPr>
          <p:cNvSpPr txBox="1"/>
          <p:nvPr/>
        </p:nvSpPr>
        <p:spPr>
          <a:xfrm>
            <a:off x="703374" y="3721937"/>
            <a:ext cx="10690151" cy="4349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ts val="285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question am I actually trying to answer?</a:t>
            </a:r>
            <a:endParaRPr lang="en-US" sz="18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FE46630-2457-C072-63F3-BF28F98F1AF7}"/>
              </a:ext>
            </a:extLst>
          </p:cNvPr>
          <p:cNvSpPr txBox="1"/>
          <p:nvPr/>
        </p:nvSpPr>
        <p:spPr>
          <a:xfrm>
            <a:off x="703374" y="4168254"/>
            <a:ext cx="10690150" cy="4349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ts val="285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decision could this analysis support?</a:t>
            </a:r>
            <a:endParaRPr lang="en-US" sz="18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53F8FE5-25BB-42D7-637F-731CF0FB36D6}"/>
              </a:ext>
            </a:extLst>
          </p:cNvPr>
          <p:cNvSpPr txBox="1"/>
          <p:nvPr/>
        </p:nvSpPr>
        <p:spPr>
          <a:xfrm>
            <a:off x="703372" y="1588485"/>
            <a:ext cx="10690152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9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Where did this data come from?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9" grpId="0"/>
      <p:bldP spid="11" grpId="0"/>
      <p:bldP spid="13" grpId="0"/>
      <p:bldP spid="15" grpId="0"/>
      <p:bldP spid="1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1379200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Group investigation: understand before you touch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15975" y="1517005"/>
            <a:ext cx="3587750" cy="2405360"/>
          </a:xfrm>
          <a:prstGeom prst="roundRect">
            <a:avLst>
              <a:gd name="adj" fmla="val 4092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022350" y="1723380"/>
            <a:ext cx="3270250" cy="284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Rules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022350" y="2058640"/>
            <a:ext cx="327025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 models.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22350" y="2401540"/>
            <a:ext cx="327025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 cleaning yet.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22350" y="2744440"/>
            <a:ext cx="327025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Your first job is to understand the data.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613275" y="1517005"/>
            <a:ext cx="6762750" cy="2405360"/>
          </a:xfrm>
          <a:prstGeom prst="roundRect">
            <a:avLst>
              <a:gd name="adj" fmla="val 4092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819650" y="1723380"/>
            <a:ext cx="6540500" cy="284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Deliver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903470" y="2058640"/>
            <a:ext cx="6449060" cy="1682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0180" indent="-170180" algn="l">
              <a:lnSpc>
                <a:spcPts val="2175"/>
              </a:lnSpc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one row represents</a:t>
            </a:r>
            <a:endParaRPr lang="en-US" sz="1500" dirty="0"/>
          </a:p>
          <a:p>
            <a:pPr marL="170180" indent="-170180" algn="l">
              <a:lnSpc>
                <a:spcPts val="2175"/>
              </a:lnSpc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Five observations</a:t>
            </a:r>
            <a:endParaRPr lang="en-US" sz="1500" dirty="0"/>
          </a:p>
          <a:p>
            <a:pPr marL="170180" indent="-170180" algn="l">
              <a:lnSpc>
                <a:spcPts val="2175"/>
              </a:lnSpc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Three quality concerns</a:t>
            </a:r>
            <a:endParaRPr lang="en-US" sz="1500" dirty="0"/>
          </a:p>
          <a:p>
            <a:pPr marL="170180" indent="-170180" algn="l">
              <a:lnSpc>
                <a:spcPts val="2175"/>
              </a:lnSpc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Three useful questions</a:t>
            </a:r>
            <a:endParaRPr lang="en-US" sz="1500" dirty="0"/>
          </a:p>
          <a:p>
            <a:pPr marL="170180" indent="-170180" algn="l">
              <a:lnSpc>
                <a:spcPts val="2175"/>
              </a:lnSpc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Two questions the data cannot answer</a:t>
            </a:r>
            <a:endParaRPr lang="en-US" sz="1500" dirty="0"/>
          </a:p>
          <a:p>
            <a:pPr marL="170180" indent="-170180" algn="l">
              <a:lnSpc>
                <a:spcPts val="2175"/>
              </a:lnSpc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One possible decision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12800" y="4179540"/>
            <a:ext cx="10883392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Foundation: use the Seven Questions as a checklist. Core: all six items. Stretch: sketch a cleaning plan you will not run yet. 40 minutes.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12800" y="6238280"/>
            <a:ext cx="39815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W01-S09 · Introduction to Data Science</a:t>
            </a:r>
            <a:endParaRPr lang="en-US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39777E-393E-3E68-7470-1E624DD65D7B}"/>
              </a:ext>
            </a:extLst>
          </p:cNvPr>
          <p:cNvSpPr txBox="1"/>
          <p:nvPr/>
        </p:nvSpPr>
        <p:spPr>
          <a:xfrm>
            <a:off x="1415562" y="479180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B0771B-8FEB-EDBB-4A33-EF0CC3BF9B14}"/>
              </a:ext>
            </a:extLst>
          </p:cNvPr>
          <p:cNvSpPr txBox="1"/>
          <p:nvPr/>
        </p:nvSpPr>
        <p:spPr>
          <a:xfrm>
            <a:off x="812800" y="4791808"/>
            <a:ext cx="60974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Sample dataset link: </a:t>
            </a:r>
            <a:r>
              <a:rPr lang="en-US" sz="1800" dirty="0">
                <a:hlinkClick r:id="rId3"/>
              </a:rPr>
              <a:t>campus foot stall orders csv dataset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Can these two datasets be combined?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15975" y="1517005"/>
            <a:ext cx="5175250" cy="1339800"/>
          </a:xfrm>
          <a:prstGeom prst="roundRect">
            <a:avLst>
              <a:gd name="adj" fmla="val 7346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022350" y="1723380"/>
            <a:ext cx="4905375" cy="284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Dataset A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022350" y="2058640"/>
            <a:ext cx="4905375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order_id, customer_id, amount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22350" y="2401540"/>
            <a:ext cx="4905375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One row per ...?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00775" y="1517005"/>
            <a:ext cx="5175250" cy="1339800"/>
          </a:xfrm>
          <a:prstGeom prst="roundRect">
            <a:avLst>
              <a:gd name="adj" fmla="val 7346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7150" y="1723380"/>
            <a:ext cx="4905375" cy="284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Dataset B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07150" y="2058640"/>
            <a:ext cx="4905375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customer_id, month, segment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7150" y="2401540"/>
            <a:ext cx="4905375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One row per ...?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12800" y="2899370"/>
            <a:ext cx="10883392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</a:pPr>
            <a:r>
              <a:rPr lang="en-US" sz="17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Do not join yet. Feel the problem first.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12800" y="6238280"/>
            <a:ext cx="39815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W01-S10 · Introduction to Data Science</a:t>
            </a:r>
            <a:endParaRPr lang="en-US" sz="12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01CA261-6BD6-1E84-691B-87FEFEBD47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3823" y="3226990"/>
            <a:ext cx="9091246" cy="303395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Beliefs to retire</a:t>
            </a:r>
            <a:endParaRPr lang="en-US" sz="3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526530"/>
          <a:ext cx="10553700" cy="2196705"/>
        </p:xfrm>
        <a:graphic>
          <a:graphicData uri="http://schemas.openxmlformats.org/drawingml/2006/table">
            <a:tbl>
              <a:tblPr/>
              <a:tblGrid>
                <a:gridCol w="5276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76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93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You might think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Better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93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Data Science is Python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Python is a tool; Data Science is the reasoning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93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Data Science is Machine Learning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ML is one stage of the lifecycle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93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More data is always better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Quality, representativeness and relevance matter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93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 dataset is the truth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 dataset is a record someone made; question it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812800" y="6238280"/>
            <a:ext cx="396799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W01-S11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Exit ticket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84374" y="1513830"/>
            <a:ext cx="10904198" cy="1168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82426" indent="-282426" algn="l">
              <a:lnSpc>
                <a:spcPts val="3000"/>
              </a:lnSpc>
              <a:buSzPct val="100000"/>
              <a:buFontTx/>
              <a:buAutoNum type="arabicPeriod"/>
            </a:pPr>
            <a:r>
              <a:rPr lang="en-US" sz="20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is Data Science?</a:t>
            </a:r>
            <a:endParaRPr lang="en-US" sz="2000" dirty="0"/>
          </a:p>
          <a:p>
            <a:pPr marL="282426" indent="-282426" algn="l">
              <a:lnSpc>
                <a:spcPts val="3000"/>
              </a:lnSpc>
              <a:buSzPct val="100000"/>
              <a:buFontTx/>
              <a:buAutoNum type="arabicPeriod"/>
            </a:pPr>
            <a:r>
              <a:rPr lang="en-US" sz="20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is one misconception you had?</a:t>
            </a:r>
            <a:endParaRPr lang="en-US" sz="2000" dirty="0"/>
          </a:p>
          <a:p>
            <a:pPr marL="282426" indent="-282426" algn="l">
              <a:lnSpc>
                <a:spcPts val="3000"/>
              </a:lnSpc>
              <a:buSzPct val="100000"/>
              <a:buFontTx/>
              <a:buAutoNum type="arabicPeriod"/>
            </a:pPr>
            <a:r>
              <a:rPr lang="en-US" sz="20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are the first three questions you will ask about any new dataset?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12800" y="291083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Before Week 2: set up Google Colab and a GitHub account.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12800" y="6238280"/>
            <a:ext cx="39815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W01-S12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tro to Data Science — Week 1: What Is Data Science?">
  <a:themeElements>
    <a:clrScheme name="Intro to Data Science — Week 1: What Is Data Science?">
      <a:dk1>
        <a:srgbClr val="1B2A41"/>
      </a:dk1>
      <a:lt1>
        <a:srgbClr val="F7F5EF"/>
      </a:lt1>
      <a:dk2>
        <a:srgbClr val="525D6D"/>
      </a:dk2>
      <a:lt2>
        <a:srgbClr val="E1E1DE"/>
      </a:lt2>
      <a:accent1>
        <a:srgbClr val="D9661F"/>
      </a:accent1>
      <a:accent2>
        <a:srgbClr val="2A6F97"/>
      </a:accent2>
      <a:accent3>
        <a:srgbClr val="9FB3C8"/>
      </a:accent3>
      <a:accent4>
        <a:srgbClr val="FBE3D2"/>
      </a:accent4>
      <a:accent5>
        <a:srgbClr val="5F6B7A"/>
      </a:accent5>
      <a:accent6>
        <a:srgbClr val="9AA0A6"/>
      </a:accent6>
      <a:hlink>
        <a:srgbClr val="0563C1"/>
      </a:hlink>
      <a:folHlink>
        <a:srgbClr val="954F72"/>
      </a:folHlink>
    </a:clrScheme>
    <a:fontScheme name="Intro to Data Science — Week 1: What Is Data Science?">
      <a:majorFont>
        <a:latin typeface="Helvetic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Helvetica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</TotalTime>
  <Words>1101</Words>
  <Application>Microsoft Macintosh PowerPoint</Application>
  <PresentationFormat>Widescreen</PresentationFormat>
  <Paragraphs>186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Georgia</vt:lpstr>
      <vt:lpstr>Helvetica</vt:lpstr>
      <vt:lpstr>Intro to Data Science — Week 1: What Is Data Science?</vt:lpstr>
      <vt:lpstr>Introduction to Data Science</vt:lpstr>
      <vt:lpstr>What do you notice?</vt:lpstr>
      <vt:lpstr>Data Science turns raw data into decisions</vt:lpstr>
      <vt:lpstr>Six neighbouring fields</vt:lpstr>
      <vt:lpstr>One company, five different questions</vt:lpstr>
      <vt:lpstr>The lifecycle: ML is one box of twelve</vt:lpstr>
      <vt:lpstr>10 million rows of unreliable data, or 10,000 trustworthy rows?</vt:lpstr>
      <vt:lpstr>The Data Scientist's Seven Questions</vt:lpstr>
      <vt:lpstr>Group investigation: understand before you touch</vt:lpstr>
      <vt:lpstr>Can these two datasets be combined?</vt:lpstr>
      <vt:lpstr>Beliefs to retire</vt:lpstr>
      <vt:lpstr>Exit ticket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Data Science — Week 1: What Is Data Science?</dc:title>
  <dc:subject/>
  <dc:creator/>
  <cp:lastModifiedBy>Abdul Rauf</cp:lastModifiedBy>
  <cp:revision>17</cp:revision>
  <dcterms:created xsi:type="dcterms:W3CDTF">2026-10-12T14:07:41Z</dcterms:created>
  <dcterms:modified xsi:type="dcterms:W3CDTF">2026-10-12T18:06:10Z</dcterms:modified>
</cp:coreProperties>
</file>