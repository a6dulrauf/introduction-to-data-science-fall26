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0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4779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W01-S01. Arrive early, put this up, and open with the next slide immediately. No definitions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W01-S02. Say the prompt, then stay quiet. Do not correct anyone yet. Watch whether students spot quality issues, jump to averages, or ask where the data came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W01-S03. Data is recorded observations: Age = 24, Temperature = 32.5C, City = Karachi, a review, an image. Ask which of the three shapes the messy table was.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W01-S04. Fields overlap; these labels describe emphasis, not walls.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W01-S05. Read each question aloud and let students name the field before revealing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W01-S06. Draw the lifecycle on the board first, then reveal this slide. Ask where Machine Learning is. At each arrow, collect one thing that could go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W01-S07. Give 2 minutes of think-pair-share. If someone says 10 million, ask: better for what?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W01-S08. Students first write their own questions, then map them to these seven. This poster returns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W01-S09. Walk around asking: why did you call that a problem, what evidence supports it, what does one row represent?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W01-S10. Do not teach joins. Collect guesses about what could go wrong when the grain differs. Joins come in Week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W01-S11. Ask which belief each student held before today. Tally on the board and start Week 2 with the most common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W01-S12. Collect on paper or a form. Strong answers: what problem, where did the data come from, what does one row represent.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630"/>
            <a:ext cx="10566400" cy="4480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717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 · SEMESTER 4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659410"/>
            <a:ext cx="11379200" cy="77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Introduction to Data Science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360933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Data Science?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416302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Raw Data → Evidence → Insight →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W01-S01 · Introduction to Data Science · Week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What do you notice?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530"/>
          <a:ext cx="10553700" cy="2956026"/>
        </p:xfrm>
        <a:graphic>
          <a:graphicData uri="http://schemas.openxmlformats.org/drawingml/2006/table">
            <a:tbl>
              <a:tblPr/>
              <a:tblGrid>
                <a:gridCol w="2110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07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Customer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City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Purchases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Income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Lahore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95,000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-5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999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671"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karachi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?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52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120,000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80010" marR="80010" marT="80010" marB="8001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736554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definitions. For ten minutes, behave like a Data Scientist.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W01-S02 · Introduction to Data Science · Week 1</a:t>
            </a: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B6085FC-DF33-257D-ECB9-50FEB0402C5B}"/>
              </a:ext>
            </a:extLst>
          </p:cNvPr>
          <p:cNvSpPr/>
          <p:nvPr/>
        </p:nvSpPr>
        <p:spPr>
          <a:xfrm>
            <a:off x="812800" y="5177557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2240"/>
              </a:lnSpc>
            </a:pPr>
            <a:r>
              <a:rPr lang="en-US" sz="16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 Questions about this dataset? List them.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Data Science turns raw data into decisions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800" y="1513830"/>
            <a:ext cx="10883392" cy="642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30"/>
              </a:lnSpc>
              <a:buNone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reasoning process for getting evidence, insight and decisions out of recorded observations. The data comes in three shapes.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15975" y="2388146"/>
            <a:ext cx="3380284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2350" y="2594521"/>
            <a:ext cx="3056560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Structured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22350" y="2945011"/>
            <a:ext cx="30565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Rows and columns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3287911"/>
            <a:ext cx="30565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 | Age | Salary | City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2388146"/>
            <a:ext cx="3380333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12184" y="2594521"/>
            <a:ext cx="3056611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Semi-structured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12184" y="2945011"/>
            <a:ext cx="30566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Tagged, nested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2184" y="3287911"/>
            <a:ext cx="305661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JSON: id, name, skills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2388146"/>
            <a:ext cx="3380333" cy="1355030"/>
          </a:xfrm>
          <a:prstGeom prst="roundRect">
            <a:avLst>
              <a:gd name="adj" fmla="val 7264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02067" y="2594521"/>
            <a:ext cx="3056611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Unstructured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02067" y="2945011"/>
            <a:ext cx="305661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fixed layout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02067" y="3287911"/>
            <a:ext cx="305661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Text, images, audio, video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W01-S03 · Introduction to Data Science · Week 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Six neighbouring fields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360171"/>
              </p:ext>
            </p:extLst>
          </p:nvPr>
        </p:nvGraphicFramePr>
        <p:xfrm>
          <a:off x="825500" y="1526530"/>
          <a:ext cx="10553700" cy="4381901"/>
        </p:xfrm>
        <a:graphic>
          <a:graphicData uri="http://schemas.openxmlformats.org/drawingml/2006/table">
            <a:tbl>
              <a:tblPr/>
              <a:tblGrid>
                <a:gridCol w="2450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34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Field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What it does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942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95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Statistics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094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Analytics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9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Machine Learning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2998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AI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3385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Engineering</a:t>
                      </a: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endParaRPr lang="en-US" sz="18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W01-S04 · Introduction to Data Science · Week 1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7F7E3-5A38-D7BF-DB2F-D26B6304CFAA}"/>
              </a:ext>
            </a:extLst>
          </p:cNvPr>
          <p:cNvSpPr txBox="1"/>
          <p:nvPr/>
        </p:nvSpPr>
        <p:spPr>
          <a:xfrm>
            <a:off x="3245618" y="1999622"/>
            <a:ext cx="8120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Uses data, programming, statistics, and modeling to discover insights and solve problems.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D5FBFE-C752-E07B-2CBC-C9CC354061A3}"/>
              </a:ext>
            </a:extLst>
          </p:cNvPr>
          <p:cNvSpPr txBox="1"/>
          <p:nvPr/>
        </p:nvSpPr>
        <p:spPr>
          <a:xfrm>
            <a:off x="3255666" y="2679820"/>
            <a:ext cx="8133582" cy="649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40"/>
              </a:lnSpc>
            </a:pPr>
            <a:r>
              <a:rPr lang="en-US" dirty="0"/>
              <a:t>Helps us understand data, measure uncertainty, and draw conclusions using mathematical methods</a:t>
            </a: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</a:t>
            </a:r>
            <a:endParaRPr lang="en-US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4D08A-246A-333C-D2F3-87E067471424}"/>
              </a:ext>
            </a:extLst>
          </p:cNvPr>
          <p:cNvSpPr txBox="1"/>
          <p:nvPr/>
        </p:nvSpPr>
        <p:spPr>
          <a:xfrm>
            <a:off x="3268367" y="3297880"/>
            <a:ext cx="8133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Examines data to understand what happened, why it happened, and what actions we should take.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5049A-FAE0-8123-9694-2036198DC2E9}"/>
              </a:ext>
            </a:extLst>
          </p:cNvPr>
          <p:cNvSpPr txBox="1"/>
          <p:nvPr/>
        </p:nvSpPr>
        <p:spPr>
          <a:xfrm>
            <a:off x="3269693" y="3915940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Enables computers to learn patterns from data and use them to make predictions or decisions.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6DA554-57CB-E07C-218C-C6ECE6BDC0B5}"/>
              </a:ext>
            </a:extLst>
          </p:cNvPr>
          <p:cNvSpPr txBox="1"/>
          <p:nvPr/>
        </p:nvSpPr>
        <p:spPr>
          <a:xfrm>
            <a:off x="3281068" y="4577288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Develops systems that perform tasks associated with human intelligence, such as reasoning, understanding language, and solving problems.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324050-05C2-C6D7-D8FF-2C4B1E649499}"/>
              </a:ext>
            </a:extLst>
          </p:cNvPr>
          <p:cNvSpPr txBox="1"/>
          <p:nvPr/>
        </p:nvSpPr>
        <p:spPr>
          <a:xfrm>
            <a:off x="3269692" y="5282385"/>
            <a:ext cx="81208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Builds systems and pipelines that collect, transform, store, and deliver reliable data for analysis and applications.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One company, five different questions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28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191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191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do we store and process millions of orders reliably?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942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6005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005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products sold most last month?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975600" y="2039519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81975" y="2245894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Statistics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81975" y="2565924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 this group difference likely real beyond our sample?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454230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19175" y="3660605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175" y="3980635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customer is likely to stop buying next month?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94200" y="3454230"/>
            <a:ext cx="3397250" cy="1230561"/>
          </a:xfrm>
          <a:prstGeom prst="roundRect">
            <a:avLst>
              <a:gd name="adj" fmla="val 79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00575" y="3660605"/>
            <a:ext cx="3074035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Science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00575" y="3980635"/>
            <a:ext cx="3074035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do we use all of this to understand and improve retention?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W01-S05 · Introduction to Data Science · Week 1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F0473B-39E9-C8AA-66BC-24216E95A0D0}"/>
              </a:ext>
            </a:extLst>
          </p:cNvPr>
          <p:cNvSpPr txBox="1"/>
          <p:nvPr/>
        </p:nvSpPr>
        <p:spPr>
          <a:xfrm>
            <a:off x="812800" y="1460121"/>
            <a:ext cx="6261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Scenario: A company has millions of orders from customers.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lifecycle: ML is one box of twelve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715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715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Problem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956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12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12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Question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53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309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309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55075" y="151700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010650" y="167258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10650" y="1885900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Quality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59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715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15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Cleaning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956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12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6512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EDA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53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309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Analysis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855075" y="2444055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010650" y="2599630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010650" y="281295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59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BE3D2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715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715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ML, if needed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4956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12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6512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1753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3309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Communication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855075" y="3371106"/>
            <a:ext cx="2520950" cy="768300"/>
          </a:xfrm>
          <a:prstGeom prst="roundRect">
            <a:avLst>
              <a:gd name="adj" fmla="val 1281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010650" y="3526681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010650" y="3740001"/>
            <a:ext cx="227609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12800" y="439658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At every arrow ask: what could go wrong here?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W01-S06 · Introduction to Data Science · Week 1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17676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10 million rows of unreliable data, or 10,000 trustworthy rows?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354836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Think. Pair. Share. Then: better for what?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157960"/>
            <a:ext cx="10883392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Volume does not equal quality.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W01-S07 · Introduction to Data Science · Week 1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Data Scientist's Seven Questions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W01-S08 · Introduction to Data Science · Week 1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89AA1-359E-8EB6-9879-21CB315ADFD8}"/>
              </a:ext>
            </a:extLst>
          </p:cNvPr>
          <p:cNvSpPr txBox="1"/>
          <p:nvPr/>
        </p:nvSpPr>
        <p:spPr>
          <a:xfrm>
            <a:off x="703385" y="1986260"/>
            <a:ext cx="10690152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one row represent?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3F5932-974D-9F3E-3147-E34F5B7977C1}"/>
              </a:ext>
            </a:extLst>
          </p:cNvPr>
          <p:cNvSpPr txBox="1"/>
          <p:nvPr/>
        </p:nvSpPr>
        <p:spPr>
          <a:xfrm>
            <a:off x="703377" y="2415492"/>
            <a:ext cx="10690152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does each column actually mean?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D160A-FF3F-536E-8D63-5F90B5254EF6}"/>
              </a:ext>
            </a:extLst>
          </p:cNvPr>
          <p:cNvSpPr txBox="1"/>
          <p:nvPr/>
        </p:nvSpPr>
        <p:spPr>
          <a:xfrm>
            <a:off x="703374" y="2853425"/>
            <a:ext cx="10690151" cy="43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Can I trust this data?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FDED00-9A40-DDF8-412A-5D2AB005F8FD}"/>
              </a:ext>
            </a:extLst>
          </p:cNvPr>
          <p:cNvSpPr txBox="1"/>
          <p:nvPr/>
        </p:nvSpPr>
        <p:spPr>
          <a:xfrm>
            <a:off x="703378" y="3292705"/>
            <a:ext cx="10690151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missing, biased, duplicated or inconsistent?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A4DDC9-4263-1322-151B-670082B7F319}"/>
              </a:ext>
            </a:extLst>
          </p:cNvPr>
          <p:cNvSpPr txBox="1"/>
          <p:nvPr/>
        </p:nvSpPr>
        <p:spPr>
          <a:xfrm>
            <a:off x="703374" y="3721937"/>
            <a:ext cx="10690151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question am I actually trying to answer?</a:t>
            </a:r>
            <a:endParaRPr lang="en-US" sz="1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46630-2457-C072-63F3-BF28F98F1AF7}"/>
              </a:ext>
            </a:extLst>
          </p:cNvPr>
          <p:cNvSpPr txBox="1"/>
          <p:nvPr/>
        </p:nvSpPr>
        <p:spPr>
          <a:xfrm>
            <a:off x="703374" y="4168254"/>
            <a:ext cx="10690150" cy="434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85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decision could this analysis support?</a:t>
            </a:r>
            <a:endParaRPr lang="en-US" sz="1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3F8FE5-25BB-42D7-637F-731CF0FB36D6}"/>
              </a:ext>
            </a:extLst>
          </p:cNvPr>
          <p:cNvSpPr txBox="1"/>
          <p:nvPr/>
        </p:nvSpPr>
        <p:spPr>
          <a:xfrm>
            <a:off x="703372" y="1588485"/>
            <a:ext cx="1069015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did this data come from?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1" grpId="0"/>
      <p:bldP spid="13" grpId="0"/>
      <p:bldP spid="15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1379200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Group investigation: understand before you touch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3587750" cy="2405360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723380"/>
            <a:ext cx="3270250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22350" y="2058640"/>
            <a:ext cx="3270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models.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2350" y="2401540"/>
            <a:ext cx="3270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cleaning yet.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2350" y="2744440"/>
            <a:ext cx="327025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first job is to understand the data.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13275" y="1517005"/>
            <a:ext cx="6762750" cy="2405360"/>
          </a:xfrm>
          <a:prstGeom prst="roundRect">
            <a:avLst>
              <a:gd name="adj" fmla="val 4092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9650" y="1723380"/>
            <a:ext cx="6540500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903470" y="2058640"/>
            <a:ext cx="6449060" cy="168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one row represents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Five observations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quality concerns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useful questions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Two questions the data cannot answer</a:t>
            </a:r>
            <a:endParaRPr lang="en-US" sz="1500" dirty="0"/>
          </a:p>
          <a:p>
            <a:pPr marL="170180" indent="-170180" algn="l">
              <a:lnSpc>
                <a:spcPts val="2175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possible decision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4179540"/>
            <a:ext cx="10883392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use the Seven Questions as a checklist. Core: all six items. Stretch: sketch a cleaning plan you will not run yet. 40 minutes.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W01-S09 · Introduction to Data Science · Week 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Can these two datasets be combined?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15975" y="1517005"/>
            <a:ext cx="5175250" cy="133980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2350" y="17233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A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22350" y="20586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order_id, customer_id, amount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2350" y="2401540"/>
            <a:ext cx="490537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...?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1517005"/>
            <a:ext cx="5175250" cy="1339800"/>
          </a:xfrm>
          <a:prstGeom prst="roundRect">
            <a:avLst>
              <a:gd name="adj" fmla="val 734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7150" y="1723380"/>
            <a:ext cx="4905375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Dataset B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7150" y="2058640"/>
            <a:ext cx="49053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customer_id, month, segment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7150" y="2401540"/>
            <a:ext cx="490537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row per ...?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289937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 not join yet. Feel the problem first.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W01-S10 · Introduction to Data Science · Week 1</a:t>
            </a:r>
            <a:endParaRPr lang="en-US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01CA261-6BD6-1E84-691B-87FEFEBD4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3823" y="3226990"/>
            <a:ext cx="9091246" cy="30339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Beliefs to retire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526530"/>
          <a:ext cx="10553700" cy="2196705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might think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 is Python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Python is a tool; Data Science is the reasoning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Data Science is Machine Learning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ML is one stage of the lifecycle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More data is always better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Quality, representativeness and relevance matter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9341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dataset is the truth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dataset is a record someone made; question it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1120" marR="71120" marT="71120" marB="7112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38280"/>
            <a:ext cx="39679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W01-S11 · Introduction to Data Science · Week 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Exit ticket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84374" y="1513830"/>
            <a:ext cx="10904198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Data Science?</a:t>
            </a:r>
            <a:endParaRPr lang="en-US" sz="2000" dirty="0"/>
          </a:p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is one misconception you had?</a:t>
            </a:r>
            <a:endParaRPr lang="en-US" sz="2000" dirty="0"/>
          </a:p>
          <a:p>
            <a:pPr marL="282426" indent="-282426" algn="l">
              <a:lnSpc>
                <a:spcPts val="3000"/>
              </a:lnSpc>
              <a:buSzPct val="100000"/>
              <a:buFontTx/>
              <a:buAutoNum type="arabicPeriod"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are the first three questions you will ask about any new dataset?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291083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Before Week 2: set up Google Colab and a GitHub account.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39815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W01-S12 · Introduction to Data Science · Week 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1: What Is Data Science?">
  <a:themeElements>
    <a:clrScheme name="Intro to Data Science — Week 1: What Is Data Science?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FBE3D2"/>
      </a:accent4>
      <a:accent5>
        <a:srgbClr val="5F6B7A"/>
      </a:accent5>
      <a:accent6>
        <a:srgbClr val="9AA0A6"/>
      </a:accent6>
      <a:hlink>
        <a:srgbClr val="0563C1"/>
      </a:hlink>
      <a:folHlink>
        <a:srgbClr val="954F72"/>
      </a:folHlink>
    </a:clrScheme>
    <a:fontScheme name="Intro to Data Science — Week 1: What Is Data Science?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1130</Words>
  <Application>Microsoft Macintosh PowerPoint</Application>
  <PresentationFormat>Widescreen</PresentationFormat>
  <Paragraphs>185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Georgia</vt:lpstr>
      <vt:lpstr>Helvetica</vt:lpstr>
      <vt:lpstr>Intro to Data Science — Week 1: What Is Data Science?</vt:lpstr>
      <vt:lpstr>Introduction to Data Science</vt:lpstr>
      <vt:lpstr>What do you notice?</vt:lpstr>
      <vt:lpstr>Data Science turns raw data into decisions</vt:lpstr>
      <vt:lpstr>Six neighbouring fields</vt:lpstr>
      <vt:lpstr>One company, five different questions</vt:lpstr>
      <vt:lpstr>The lifecycle: ML is one box of twelve</vt:lpstr>
      <vt:lpstr>10 million rows of unreliable data, or 10,000 trustworthy rows?</vt:lpstr>
      <vt:lpstr>The Data Scientist's Seven Questions</vt:lpstr>
      <vt:lpstr>Group investigation: understand before you touch</vt:lpstr>
      <vt:lpstr>Can these two datasets be combined?</vt:lpstr>
      <vt:lpstr>Beliefs to retire</vt:lpstr>
      <vt:lpstr>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1: What Is Data Science?</dc:title>
  <dc:subject/>
  <dc:creator/>
  <cp:lastModifiedBy>Abdul Rauf</cp:lastModifiedBy>
  <cp:revision>14</cp:revision>
  <dcterms:created xsi:type="dcterms:W3CDTF">2026-10-12T14:07:41Z</dcterms:created>
  <dcterms:modified xsi:type="dcterms:W3CDTF">2026-10-12T16:23:14Z</dcterms:modified>
</cp:coreProperties>
</file>