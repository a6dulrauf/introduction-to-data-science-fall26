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8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53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W03-S01. Recap the profiler, then tell the sorted-column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W03-S02. Tell the full story from the guide before advancing.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W03-S03. The proof habit is the real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W03-S04. Collect predictions on the board before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W03-S05. Predict each output. Ask for a deliberate wrong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W03-S06. Use a hand-drawn grid on the board. Students predict mean(axis=0).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W03-S07. Ask what the first line returns before showing the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W03-S08. Ask why mean and median are close here but not in a salary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W03-S09. Link back to the list of dicts from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W03-S10. Run all five live; students say what each tells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W03-S11. Show the three bad dates in the data and ask what each might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W03-S12. Debate the discount decision for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W03-S13. Show what each returns with type().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W03-S14. Do the and error live and read it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W03-S15. Ask how many large lines there are; students compute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W03-S16. Ask which one a manager means by average order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W03-S17. Write the English sentence first. Ask what one row of the result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W03-S18. Ask which cell in the pivot surprises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W03-S19. Ask which is easier to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W03-S20. Each mistake is shown with a tiny example before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W03-S21. State the grain of every result. Run the inspection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W03-S22. Show only when most pairs reach Q3.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W03-S23. Students compare their notebook with this, line by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W03-S24. This is a script; in a notebook each function goes in its own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W03-S25. Students compare. Discuss why the second and third decliners are suspect.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W03-S26. Students spot-check one order on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W03-S27. Collect exit tickets. Check every notebook is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82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BS DATA SCIENCE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21000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7F5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NumPy and Pandas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921720"/>
            <a:ext cx="10883392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Making tabular data manageable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6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24160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One analyst sorted one column and emailed the file.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50138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customer now carried somebody else's amount.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411098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Spreadsheets break silently. Code leaves a trail you can check.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Today you will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620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6950" y="164465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NumPy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6950" y="198244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Think in whole arrays, not loops: shape, axis, masks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620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69867" y="164465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Pandas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9867" y="198244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Load, inspect, type, clean lightly, select and filter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620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2784" y="1644650"/>
            <a:ext cx="314383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42784" y="1982440"/>
            <a:ext cx="314383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what one row means before every result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784425"/>
            <a:ext cx="3414167" cy="11620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6950" y="296540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6950" y="3303191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Split, apply, combine; pivot tables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92" y="2784425"/>
            <a:ext cx="3414167" cy="11620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69867" y="296540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9867" y="3303191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Reconcile totals, spot-check, recompute differently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41782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Deliverable: answer five business questions from sales.csv, and prove the answers are right.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W03-S03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race: one million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12800" y="1418580"/>
            <a:ext cx="10566400" cy="3278783"/>
          </a:xfrm>
          <a:prstGeom prst="roundRect">
            <a:avLst>
              <a:gd name="adj" fmla="val 3099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 time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 numpy as np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 = 1_000_000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values = list(range(n))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 = time.perf_counter(); [x + 1 for x in values]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loop_s = time.perf_counter() - t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arr = np.arange(n)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 = time.perf_counter(); arr + 1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numpy_s = time.perf_counter() - t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print(loop_s / numpy_s)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4925963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 the ratio first. Then run it. The number depends on your machine, so write down yours.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W03-S04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Arrays: shape, type, indexing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897955"/>
          </a:xfrm>
          <a:prstGeom prst="roundRect">
            <a:avLst>
              <a:gd name="adj" fmla="val 5353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 = np.array([[1, 2, 3], [4, 5, 6]])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a.shape, a.ndim, a.dtype     # (2, 3) 2 int64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a[0, 1]                      # 2   row 0, column 1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a[:, 1]                      # [2 5]   every row, column 1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a[1, :]                      # [4 5 6]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a.reshape(3, 2)              # same six numbers, new shape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358705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array holds one type. A table is a 2-D array with labels attached.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W03-S05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axis: which way does it collapse?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5975" y="1463675"/>
            <a:ext cx="10560050" cy="1855291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 wrap="square" lIns="152147" tIns="152147" rIns="0" bIns="126747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 = [[1, 2, 3],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[4, 5, 6]]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a.sum()          -&gt; 21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a.sum(axis=0)    -&gt; [5 7 9]     down the rows: one answer per column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a.sum(axis=1)    -&gt; [6 15]      across the columns: one answer per row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55074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Rule: the axis you name is the one that disappears. In Pandas this returns as axis=0 for rows and axis=1 for columns.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W03-S06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Masks and broadcasting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897955"/>
          </a:xfrm>
          <a:prstGeom prst="roundRect">
            <a:avLst>
              <a:gd name="adj" fmla="val 5353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prices = np.array([800, 1200, 450, 3000])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prices &gt; 1000                   # [False  True False  True]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prices[prices &gt; 1000]           # [1200 3000]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prices * 1.17                   # tax on every price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prices - prices.mean()          # distance from the average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np.where(prices &gt; 1000, 'big', 'small')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358705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comparison makes a column of True and False. That mask selects rows. Pandas filtering is the same idea.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W03-S07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Statistics and seeds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649363"/>
          </a:xfrm>
          <a:prstGeom prst="roundRect">
            <a:avLst>
              <a:gd name="adj" fmla="val 6160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rng = np.random.default_rng(42)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sales = rng.normal(loc=5000, scale=1500, size=1000)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sales.mean(), sales.std()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np.percentile(sales, [25, 50, 75])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(sales &gt; 8000).mean()           # share above 8000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3338463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seed, same numbers, on every machine. Reproducibility starts with one 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815953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Try: change the seed to 7. Which results change, and which barely move?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W03-S08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From arrays to tables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6950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labelled column: values plus an index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69867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DataFrame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Columns that are Series sharing one index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2784" y="164465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51980"/>
            <a:ext cx="314383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row labels; not a column unless you make it 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826990"/>
            <a:ext cx="10566400" cy="1152178"/>
          </a:xfrm>
          <a:prstGeom prst="roundRect">
            <a:avLst>
              <a:gd name="adj" fmla="val 8818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 = pd.DataFrame({'city': ['Karachi', 'Lahore'],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'orders': [120, 80]})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df['orders'] / df['orders'].sum()    # share of orders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W03-S09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Load, then inspect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664170"/>
          </a:xfrm>
          <a:prstGeom prst="roundRect">
            <a:avLst>
              <a:gd name="adj" fmla="val 15297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 = pd.read_csv('sales.csv')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00307"/>
              </p:ext>
            </p:extLst>
          </p:nvPr>
        </p:nvGraphicFramePr>
        <p:xfrm>
          <a:off x="825500" y="2365970"/>
          <a:ext cx="10553700" cy="2316066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Command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The question it answers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df.shape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df.head()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df.info()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df.describe()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df.isna().sum()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W03-S10 · Introduction to Data Science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6BE87-1603-87B0-FA72-C1A238975E7C}"/>
              </a:ext>
            </a:extLst>
          </p:cNvPr>
          <p:cNvSpPr txBox="1"/>
          <p:nvPr/>
        </p:nvSpPr>
        <p:spPr>
          <a:xfrm>
            <a:off x="6102350" y="2758040"/>
            <a:ext cx="528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many rows and columns?</a:t>
            </a:r>
            <a:endParaRPr lang="en-US" sz="16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39934-BC03-7A79-2A0F-474A1AAE13F8}"/>
              </a:ext>
            </a:extLst>
          </p:cNvPr>
          <p:cNvSpPr txBox="1"/>
          <p:nvPr/>
        </p:nvSpPr>
        <p:spPr>
          <a:xfrm>
            <a:off x="6083300" y="3158367"/>
            <a:ext cx="528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60"/>
              </a:lnSpc>
            </a:pPr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does one row look like?</a:t>
            </a:r>
            <a:endParaRPr lang="en-US" sz="16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CF85C-44EB-2B7F-0DAF-4B3E6D353B91}"/>
              </a:ext>
            </a:extLst>
          </p:cNvPr>
          <p:cNvSpPr txBox="1"/>
          <p:nvPr/>
        </p:nvSpPr>
        <p:spPr>
          <a:xfrm>
            <a:off x="6083300" y="3554360"/>
            <a:ext cx="528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60"/>
              </a:lnSpc>
            </a:pPr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Are the types right? Where are the nulls?</a:t>
            </a:r>
            <a:endParaRPr lang="en-US" sz="16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1BF75-CE3C-CB31-1E3E-72BF19089EB7}"/>
              </a:ext>
            </a:extLst>
          </p:cNvPr>
          <p:cNvSpPr txBox="1"/>
          <p:nvPr/>
        </p:nvSpPr>
        <p:spPr>
          <a:xfrm>
            <a:off x="6102350" y="3919858"/>
            <a:ext cx="528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60"/>
              </a:lnSpc>
            </a:pPr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the ranges look plausible?</a:t>
            </a:r>
            <a:endParaRPr lang="en-US" sz="16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6853-A420-4EB7-6010-9B2E7E0C67DF}"/>
              </a:ext>
            </a:extLst>
          </p:cNvPr>
          <p:cNvSpPr txBox="1"/>
          <p:nvPr/>
        </p:nvSpPr>
        <p:spPr>
          <a:xfrm>
            <a:off x="6100884" y="4303452"/>
            <a:ext cx="528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60"/>
              </a:lnSpc>
            </a:pPr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columns are missing values?</a:t>
            </a:r>
            <a:endParaRPr lang="en-US" sz="1600" dirty="0">
              <a:latin typeface="Helvetica" charset="0"/>
              <a:ea typeface="Helvetica" charset="0"/>
              <a:cs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Types and dates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2997200"/>
          </a:xfrm>
          <a:prstGeom prst="roundRect">
            <a:avLst>
              <a:gd name="adj" fmla="val 6160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df['order_date'] = pd.to_datetime(df['order_date'],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           errors='coerce')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df['order_date'].isna().sum()          # 3 could not be parsed</a:t>
            </a:r>
          </a:p>
          <a:p>
            <a:pPr marL="0" indent="0" algn="l">
              <a:lnSpc>
                <a:spcPts val="1958"/>
              </a:lnSpc>
              <a:buNone/>
            </a:pP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pd.read_csv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(‘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sales.csv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’)</a:t>
            </a:r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printing bad dates</a:t>
            </a:r>
          </a:p>
          <a:p>
            <a:pPr>
              <a:lnSpc>
                <a:spcPts val="1958"/>
              </a:lnSpc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raw.loc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pd.to_datetime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(raw['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order_date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'], errors='coerce').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isna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(), '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order_date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’])</a:t>
            </a:r>
          </a:p>
          <a:p>
            <a:pPr>
              <a:lnSpc>
                <a:spcPts val="1958"/>
              </a:lnSpc>
            </a:pPr>
            <a:endParaRPr lang="en-US" sz="1350" dirty="0">
              <a:solidFill>
                <a:srgbClr val="F7F5EF"/>
              </a:solidFill>
              <a:latin typeface="Courier New" pitchFamily="49" charset="0"/>
              <a:ea typeface="Courier New" pitchFamily="49" charset="-122"/>
              <a:cs typeface="Courier New" pitchFamily="49" charset="-120"/>
            </a:endParaRPr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['month'] = 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['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order_date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'].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dt.to_period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('M')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['weekday'] = df['order_date'].dt.day_name()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46609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errors=coerce turns bad dates into NaT instead of crashing. Always count what you coerced, then look at those rows.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1987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Text and missing values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400770"/>
          </a:xfrm>
          <a:prstGeom prst="roundRect">
            <a:avLst>
              <a:gd name="adj" fmla="val 7253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df['region'] = df['region'].str.strip().fillna('Unknown')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df['category'].value_counts()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df['product'].str.contains('Pro').sum()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df['discount'] = df['discount'].fillna(0)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3089870"/>
            <a:ext cx="11379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fillna is a decision, not a default. Does a missing discount mean no discount, or unknown? Write your reason in a comment.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Selecting: four ways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155926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Code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Returns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df['revenue']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One column (a Series)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df[['product', 'revenue']]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Several columns (a DataFrame)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df.loc[df['region'] == 'Lahore', 'revenue']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Rows by condition, columns by label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df.iloc[0:5, 0:3]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Rows and columns by position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df.loc[mask, 'discount'] = 0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Assign safely, in one step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857724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Prefer loc to chained brackets. It is clearer and avoids silent copies.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W03-S13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Filtering and sorting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2310557"/>
          </a:xfrm>
          <a:prstGeom prst="roundRect">
            <a:avLst>
              <a:gd name="adj" fmla="val 4880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big = df[df['quantity'] &gt;= 3]</a:t>
            </a:r>
          </a:p>
          <a:p>
            <a:pPr marL="0" indent="0" algn="l">
              <a:lnSpc>
                <a:spcPts val="1885"/>
              </a:lnSpc>
              <a:buNone/>
            </a:pP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home_khi</a:t>
            </a: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= df[(df['region'] == 'Karachi’)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and (df['category'] == 'Home’)]</a:t>
            </a:r>
          </a:p>
          <a:p>
            <a:pPr marL="0" indent="0" algn="l">
              <a:lnSpc>
                <a:spcPts val="1885"/>
              </a:lnSpc>
              <a:buNone/>
            </a:pP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df[df['product'].isin(['Blender', 'Kurta'])]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df[df['unit_price'].between(1000, 3000)]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df.sort_values(['category', 'unit_price'],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ascending=[True, False]).head()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3941267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&amp; and | with parentheses around each condition. The words and or fail on columns.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W03-S14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Creating new columns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603226"/>
          </a:xfrm>
          <a:prstGeom prst="roundRect">
            <a:avLst>
              <a:gd name="adj" fmla="val 6337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df['revenue'] = (df['quantity'] * df['unit_price']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* (1 - df['discount']))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df['size'] = np.where(df['revenue'] &gt; 5000, 'large', 'small')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df['band'] = pd.cut(df['unit_price'], [0, 1000, 3000, 10000],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labels=['low', 'mid', 'high'])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3292326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Vectorized math beats loops and apply. One line works on all 601 rows.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W03-S15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Grain check: lines, orders, customers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202680"/>
          </a:xfrm>
          <a:prstGeom prst="roundRect">
            <a:avLst>
              <a:gd name="adj" fmla="val 818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6950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314378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202680"/>
          </a:xfrm>
          <a:prstGeom prst="roundRect">
            <a:avLst>
              <a:gd name="adj" fmla="val 818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69867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51980"/>
            <a:ext cx="314378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202680"/>
          </a:xfrm>
          <a:prstGeom prst="roundRect">
            <a:avLst>
              <a:gd name="adj" fmla="val 818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2784" y="164465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51980"/>
            <a:ext cx="314383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2800" y="2898129"/>
            <a:ext cx="10566400" cy="1710085"/>
          </a:xfrm>
          <a:prstGeom prst="roundRect">
            <a:avLst>
              <a:gd name="adj" fmla="val 8818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len(df)                          # lines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df['order_id'].nunique()         # orders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df['customer_id'].nunique()      # customers</a:t>
            </a:r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[‘revenue’].mean()</a:t>
            </a:r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df.group_by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(’</a:t>
            </a:r>
            <a:r>
              <a:rPr lang="en-US" sz="1350" dirty="0" err="1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order_id</a:t>
            </a: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’)[‘revenue’].sum().mean()</a:t>
            </a:r>
          </a:p>
          <a:p>
            <a:pPr marL="0" indent="0" algn="l">
              <a:lnSpc>
                <a:spcPts val="1958"/>
              </a:lnSpc>
              <a:buNone/>
            </a:pP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800" y="4608214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 revenue per line: 4,380. Average revenue per order: 9,335. Same data, two different answers. Average order value must use orders.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W03-S16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Group by: split, apply, combine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885180"/>
          </a:xfrm>
          <a:prstGeom prst="roundRect">
            <a:avLst>
              <a:gd name="adj" fmla="val 111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6950" y="1644650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Split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96950" y="193675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Piles by category or region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885180"/>
          </a:xfrm>
          <a:prstGeom prst="roundRect">
            <a:avLst>
              <a:gd name="adj" fmla="val 111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69867" y="1644650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Apply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69867" y="193675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Sum, mean or count inside each pile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885180"/>
          </a:xfrm>
          <a:prstGeom prst="roundRect">
            <a:avLst>
              <a:gd name="adj" fmla="val 111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2784" y="1644650"/>
            <a:ext cx="3143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Combine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42784" y="1936750"/>
            <a:ext cx="31438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row per pile, ready to sort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580630"/>
            <a:ext cx="10566400" cy="1363861"/>
          </a:xfrm>
          <a:prstGeom prst="roundRect">
            <a:avLst>
              <a:gd name="adj" fmla="val 7449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df.groupby('category')['revenue'].sum()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df.groupby('region').agg(lines=('revenue', 'size'),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  revenue=('revenue', 'sum'),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  avg_line=('revenue', 'mean'))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W03-S17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Pivot tables and crosstabs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400770"/>
          </a:xfrm>
          <a:prstGeom prst="roundRect">
            <a:avLst>
              <a:gd name="adj" fmla="val 7253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pd.pivot_table(df, index='region', columns='category',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values='revenue', aggfunc='sum',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fill_value=0).round(0)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pd.crosstab(df['region'], df['category'])   # counts of 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308987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pivot is a groupby laid out as a grid. Use it to spot where a category is strong or missing.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W03-S18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Readable pipelines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2708275"/>
          </a:xfrm>
          <a:prstGeom prst="roundRect">
            <a:avLst>
              <a:gd name="adj" fmla="val 3751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 harder to read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 = df[df['region'] != 'Unknown']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 = t.groupby('category')['revenue'].sum()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 = t.sort_values(ascending=False).head(3)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 method chain: one idea per line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top3 = (df[df['region'] != 'Unknown']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.groupby('category')['revenue'].sum()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.sort_values(ascending=False)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.head(3))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12800" y="439737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Both work. A chain reads top to bottom like a recipe. Do not chain until you can say each step.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W03-S19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Pitfall Museum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515247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Mistake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happens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Fix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and instead of &amp;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ValueError: truth value is ambiguous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Use &amp; with parentheses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Chained brackets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SettingWithCopyWarning, silent copies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Use loc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Mean of means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Wrong overall average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Average the rows, or weight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len() for customers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Counts rows, not people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nunique()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NaN ignored by sum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Totals look fine, rows are lost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Check isna().sum()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groupby drops NaN keys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 region disappears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fillna first, or dropna=False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W03-S20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Lab: five business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96620" y="1460500"/>
            <a:ext cx="10791952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Q1 Which category earned the most revenue?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Q2 Which region has the highest average order value?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Q3 Which products are declining? Defend your definition.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Q4 Which month had the highest revenue?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Q5 Top 3 categories in each region (stretch)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311785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the data in Colab: type %%writefile sales.csv in a cell, paste the data under it, run it, then pd.read_csv.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357758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Foundation: Q1, Q2. Core: Q1 to Q4. Stretch: Q5, then write one paragraph for the owner.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W03-S21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Hint for Q3: declining needs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2520950" cy="1192510"/>
          </a:xfrm>
          <a:prstGeom prst="roundRect">
            <a:avLst>
              <a:gd name="adj" fmla="val 825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6950" y="1644650"/>
            <a:ext cx="22237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6950" y="2012950"/>
            <a:ext cx="22237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Drop rows with no valid date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95675" y="1463675"/>
            <a:ext cx="2520950" cy="1192510"/>
          </a:xfrm>
          <a:prstGeom prst="roundRect">
            <a:avLst>
              <a:gd name="adj" fmla="val 825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76650" y="1644650"/>
            <a:ext cx="22237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76650" y="2012950"/>
            <a:ext cx="22237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a month column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5375" y="1463675"/>
            <a:ext cx="2520950" cy="1192510"/>
          </a:xfrm>
          <a:prstGeom prst="roundRect">
            <a:avLst>
              <a:gd name="adj" fmla="val 825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6350" y="1644650"/>
            <a:ext cx="22237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6350" y="2012950"/>
            <a:ext cx="22237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by product and month, sum quantity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55075" y="1463675"/>
            <a:ext cx="2520950" cy="1192510"/>
          </a:xfrm>
          <a:prstGeom prst="roundRect">
            <a:avLst>
              <a:gd name="adj" fmla="val 825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36050" y="1644650"/>
            <a:ext cx="22237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036050" y="2012950"/>
            <a:ext cx="22237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 the last 3 full months with the 3 before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288796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 the last month complete? Check its last date. Small counts are noisy: a drop from 3 units to 2 is not a trend.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W03-S22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406400" y="355600"/>
            <a:ext cx="117205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Full code, part 1 of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400" y="863600"/>
            <a:ext cx="5626100" cy="4941094"/>
          </a:xfrm>
          <a:prstGeom prst="roundRect">
            <a:avLst>
              <a:gd name="adj" fmla="val 1799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from __future__ import annotations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from pathlib import Path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import pandas as pd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load_sales(path: Path) -&gt; pd.DataFrame: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 = pd.read_csv(path)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df['order_date'] = pd.to_datetime(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df['order_date'], errors='coerce')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bad = int(df['order_date'].isna().sum())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print('Unparseable dates:', bad)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df['region'] = df['region'].str.strip().fillna('Unknown')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df['discount'] = df['discount'].fillna(0)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df['revenue'] = (df['quantity'] * df['unit_price']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* (1 - df['discount']))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df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inspect(df: pd.DataFrame) -&gt; None: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print(df.shape)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print(df.dtypes)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print(df.isna().sum())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nums = ['quantity', 'unit_price', 'discount', 'revenue']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print(df[nums].describe().round(1))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print('lines:', len(df))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print('orders:', df['order_id'].nunique())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59500" y="863600"/>
            <a:ext cx="5626100" cy="4941094"/>
          </a:xfrm>
          <a:prstGeom prst="roundRect">
            <a:avLst>
              <a:gd name="adj" fmla="val 1799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revenue_by_category(df: pd.DataFrame) -&gt; pd.Series: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(df.groupby('category')['revenue'].sum()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.sort_values(ascending=False))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aov_by_region(df: pd.DataFrame) -&gt; pd.Series: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orders = df.groupby(['region', 'order_id'])['revenue'].sum()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(orders.groupby('region').mean()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.sort_values(ascending=False))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monthly_units(df: pd.DataFrame) -&gt; pd.DataFrame: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 = df.dropna(subset=['order_date']).copy()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d['month'] = d['order_date'].dt.to_period('M')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(d.groupby(['product', 'month'])['quantity']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.sum().unstack('month', fill_value=0))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declining(df: pd.DataFrame) -&gt; pd.Series: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# drop the last month: it is only half complete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m = monthly_units(df).iloc[:, :-1]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recent = m.iloc[:, -3:].mean(axis=1)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earlier = m.iloc[:, -6:-3].mean(axis=1)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change = (recent - earlier) / earlier.where(earlier &gt; 0)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change.dropna().sort_values()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W03-S23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406400" y="355600"/>
            <a:ext cx="117205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Full code, part 2 of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400" y="863600"/>
            <a:ext cx="11379200" cy="3609181"/>
          </a:xfrm>
          <a:prstGeom prst="roundRect">
            <a:avLst>
              <a:gd name="adj" fmla="val 2463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top_categories(df: pd.DataFrame, n: int = 3) -&gt; pd.Series: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 = df.groupby(['region', 'category'])['revenue'].sum()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g = t.groupby(level='region', group_keys=False)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g.nlargest(n)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main() -&gt; None: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df = load_sales(Path('sales.csv'))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inspect(df)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cat = revenue_by_category(df)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assert abs(cat.sum() - df['revenue'].sum()) &lt; 1e-6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print(cat.round(0))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print(aov_by_region(df).round(0))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print(declining(df).round(2).head(3))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print(top_categories(df))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 __name__ == '__main__':</a:t>
            </a:r>
            <a:endParaRPr lang="en-US" sz="950" dirty="0"/>
          </a:p>
          <a:p>
            <a:pPr marL="0" indent="0" algn="l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main()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W03-S24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406400" y="355600"/>
            <a:ext cx="11720576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Expected answers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9575" y="894705"/>
            <a:ext cx="5619750" cy="373935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 wrap="square" lIns="152147" tIns="152147" rIns="0" bIns="126747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lines: 601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orders: 282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category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Grocery        732278.0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Electronics    688985.0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Home           649160.0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Fashion        562065.0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Name: revenue, dtype: float64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region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Karachi      9991.0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Lahore       9746.0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Islamabad    9029.0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Peshawar     8227.0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Unknown      4658.0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Name: revenue, dtype: float64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product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Earbuds Pro   -0.75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Cooking Oil   -0.43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Bedsheet      -0.41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dtype: float64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62675" y="894705"/>
            <a:ext cx="5619750" cy="3232745"/>
          </a:xfrm>
          <a:prstGeom prst="roundRect">
            <a:avLst>
              <a:gd name="adj" fmla="val 3045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 wrap="square" lIns="152147" tIns="152147" rIns="0" bIns="126747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region     category   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Islamabad  Grocery        218925.0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Electronics    150260.0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Home           141180.0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Karachi    Home           193225.0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Fashion        170015.0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Electronics    164058.0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Lahore     Home           224715.0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Grocery        212960.0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Electronics    183438.0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Peshawar   Electronics    179529.0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Grocery        128704.0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Home            90040.0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Unknown    Electronics     11700.0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Grocery          9600.0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Fashion          6650.0</a:t>
            </a:r>
            <a:endParaRPr lang="en-US" sz="950" dirty="0"/>
          </a:p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Name: revenue, dtype: float64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6400" y="4865836"/>
            <a:ext cx="117205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Earbuds Pro is the real decline: unit sales fell while its price rose. Cooking Oil and Bedsheet drops are small counts, so treat them as noise. Grocery has 310 lines but revenue only slightly above Electronics.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W03-S25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Three ways to prove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6950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Reconcile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totals must add up to the overall total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69867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Spot-check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5198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Recompute one order by hand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2784" y="164465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Recompute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51980"/>
            <a:ext cx="31438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 the same answer a second 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826990"/>
            <a:ext cx="10566400" cy="1124496"/>
          </a:xfrm>
          <a:prstGeom prst="roundRect">
            <a:avLst>
              <a:gd name="adj" fmla="val 9035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abs(cat.sum() - df['revenue'].sum()) &lt; 1e-6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df[df['order_id'] == 5001][['product', 'quantity',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     'unit_price', 'discount', 'revenue']]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18008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number you cannot check is an opinion.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W03-S26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Recap and exit ticket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6950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Whole-array thinking. State the grain. Make decisions visible in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69867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 for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vs &amp;, mean of means, silently dropped rows.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2784" y="164465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51980"/>
            <a:ext cx="31438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Cleaning: when the data fights back.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3732" y="2826990"/>
            <a:ext cx="107848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3068" indent="-1630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does one row represent in sales.csv?</a:t>
            </a:r>
            <a:endParaRPr lang="en-US" sz="1400" dirty="0"/>
          </a:p>
          <a:p>
            <a:pPr marL="163068" indent="-1630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of your answers are you least sure of, and how would you check?</a:t>
            </a:r>
            <a:endParaRPr lang="en-US" sz="1400" dirty="0"/>
          </a:p>
          <a:p>
            <a:pPr marL="163068" indent="-1630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one decision did you make about missing data, and why?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W03-S27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 to Data Science — Week 3: NumPy and Pandas">
  <a:themeElements>
    <a:clrScheme name="Intro to Data Science — Week 3: NumPy and Pandas">
      <a:dk1>
        <a:srgbClr val="1B2A41"/>
      </a:dk1>
      <a:lt1>
        <a:srgbClr val="F7F5EF"/>
      </a:lt1>
      <a:dk2>
        <a:srgbClr val="525D6D"/>
      </a:dk2>
      <a:lt2>
        <a:srgbClr val="E1E1DE"/>
      </a:lt2>
      <a:accent1>
        <a:srgbClr val="D9661F"/>
      </a:accent1>
      <a:accent2>
        <a:srgbClr val="2A6F97"/>
      </a:accent2>
      <a:accent3>
        <a:srgbClr val="9FB3C8"/>
      </a:accent3>
      <a:accent4>
        <a:srgbClr val="5F6B7A"/>
      </a:accent4>
      <a:accent5>
        <a:srgbClr val="9AA0A6"/>
      </a:accent5>
      <a:accent6>
        <a:srgbClr val="737B87"/>
      </a:accent6>
      <a:hlink>
        <a:srgbClr val="0563C1"/>
      </a:hlink>
      <a:folHlink>
        <a:srgbClr val="954F72"/>
      </a:folHlink>
    </a:clrScheme>
    <a:fontScheme name="Intro to Data Science — Week 3: NumPy and Panda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3513</Words>
  <Application>Microsoft Macintosh PowerPoint</Application>
  <PresentationFormat>Widescreen</PresentationFormat>
  <Paragraphs>438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Courier New</vt:lpstr>
      <vt:lpstr>Georgia</vt:lpstr>
      <vt:lpstr>Helvetica</vt:lpstr>
      <vt:lpstr>Intro to Data Science — Week 3: NumPy and Pandas</vt:lpstr>
      <vt:lpstr>NumPy and Pandas</vt:lpstr>
      <vt:lpstr>One analyst sorted one column and emailed the file.</vt:lpstr>
      <vt:lpstr>Today you will</vt:lpstr>
      <vt:lpstr>The race: one million numbers</vt:lpstr>
      <vt:lpstr>Arrays: shape, type, indexing</vt:lpstr>
      <vt:lpstr>axis: which way does it collapse?</vt:lpstr>
      <vt:lpstr>Masks and broadcasting</vt:lpstr>
      <vt:lpstr>Statistics and seeds</vt:lpstr>
      <vt:lpstr>From arrays to tables</vt:lpstr>
      <vt:lpstr>Load, then inspect</vt:lpstr>
      <vt:lpstr>Types and dates</vt:lpstr>
      <vt:lpstr>Text and missing values</vt:lpstr>
      <vt:lpstr>Selecting: four ways</vt:lpstr>
      <vt:lpstr>Filtering and sorting</vt:lpstr>
      <vt:lpstr>Creating new columns</vt:lpstr>
      <vt:lpstr>Grain check: lines, orders, customers</vt:lpstr>
      <vt:lpstr>Group by: split, apply, combine</vt:lpstr>
      <vt:lpstr>Pivot tables and crosstabs</vt:lpstr>
      <vt:lpstr>Readable pipelines</vt:lpstr>
      <vt:lpstr>Pitfall Museum</vt:lpstr>
      <vt:lpstr>Lab: five business questions</vt:lpstr>
      <vt:lpstr>Hint for Q3: declining needs time</vt:lpstr>
      <vt:lpstr>Full code, part 1 of 2</vt:lpstr>
      <vt:lpstr>Full code, part 2 of 2</vt:lpstr>
      <vt:lpstr>Expected answers</vt:lpstr>
      <vt:lpstr>Three ways to prove it</vt:lpstr>
      <vt:lpstr>Recap and 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Data Science — Week 3: NumPy and Pandas</dc:title>
  <dc:subject/>
  <dc:creator/>
  <cp:lastModifiedBy>Abdul Rauf</cp:lastModifiedBy>
  <cp:revision>12</cp:revision>
  <dcterms:created xsi:type="dcterms:W3CDTF">2026-10-24T14:13:27Z</dcterms:created>
  <dcterms:modified xsi:type="dcterms:W3CDTF">2026-10-24T18:19:10Z</dcterms:modified>
</cp:coreProperties>
</file>